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10287000" cx="18288000"/>
  <p:notesSz cx="6858000" cy="9144000"/>
  <p:embeddedFontLst>
    <p:embeddedFont>
      <p:font typeface="Belleza"/>
      <p:regular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0" roundtripDataSignature="AMtx7mgKtLLTV5eOMcNF80iPJWPU8scNm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Belleza-regular.fntdata"/><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3"/>
          <p:cNvSpPr/>
          <p:nvPr>
            <p:ph idx="2" type="pic"/>
          </p:nvPr>
        </p:nvSpPr>
        <p:spPr>
          <a:xfrm>
            <a:off x="1792288" y="612775"/>
            <a:ext cx="5486400" cy="4114800"/>
          </a:xfrm>
          <a:prstGeom prst="rect">
            <a:avLst/>
          </a:prstGeom>
          <a:noFill/>
          <a:ln>
            <a:noFill/>
          </a:ln>
        </p:spPr>
      </p:sp>
      <p:sp>
        <p:nvSpPr>
          <p:cNvPr id="64" name="Google Shape;64;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8.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8.jpg"/><Relationship Id="rId4" Type="http://schemas.openxmlformats.org/officeDocument/2006/relationships/image" Target="../media/image9.png"/><Relationship Id="rId5"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8.jpg"/><Relationship Id="rId4" Type="http://schemas.openxmlformats.org/officeDocument/2006/relationships/image" Target="../media/image10.png"/><Relationship Id="rId5" Type="http://schemas.openxmlformats.org/officeDocument/2006/relationships/image" Target="../media/image16.png"/><Relationship Id="rId6" Type="http://schemas.openxmlformats.org/officeDocument/2006/relationships/image" Target="../media/image4.png"/><Relationship Id="rId7" Type="http://schemas.openxmlformats.org/officeDocument/2006/relationships/image" Target="../media/image7.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8.jpg"/><Relationship Id="rId4" Type="http://schemas.openxmlformats.org/officeDocument/2006/relationships/image" Target="../media/image9.png"/><Relationship Id="rId5" Type="http://schemas.openxmlformats.org/officeDocument/2006/relationships/image" Target="../media/image2.png"/><Relationship Id="rId6"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8.jpg"/><Relationship Id="rId4" Type="http://schemas.openxmlformats.org/officeDocument/2006/relationships/image" Target="../media/image19.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8.jp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8.jpg"/><Relationship Id="rId4" Type="http://schemas.openxmlformats.org/officeDocument/2006/relationships/image" Target="../media/image9.png"/><Relationship Id="rId5"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8.jpg"/><Relationship Id="rId4" Type="http://schemas.openxmlformats.org/officeDocument/2006/relationships/image" Target="../media/image9.png"/><Relationship Id="rId5"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8.jpg"/><Relationship Id="rId4" Type="http://schemas.openxmlformats.org/officeDocument/2006/relationships/image" Target="../media/image10.png"/><Relationship Id="rId5" Type="http://schemas.openxmlformats.org/officeDocument/2006/relationships/image" Target="../media/image16.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8.jpg"/><Relationship Id="rId4" Type="http://schemas.openxmlformats.org/officeDocument/2006/relationships/image" Target="../media/image19.png"/><Relationship Id="rId5" Type="http://schemas.openxmlformats.org/officeDocument/2006/relationships/image" Target="../media/image1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jpg"/><Relationship Id="rId4" Type="http://schemas.openxmlformats.org/officeDocument/2006/relationships/image" Target="../media/image19.png"/><Relationship Id="rId11" Type="http://schemas.openxmlformats.org/officeDocument/2006/relationships/hyperlink" Target="https://github.com/eventosnayweb/Tienda-virtual-Ney-Eventos-Proyecto-ADSO-3388485" TargetMode="External"/><Relationship Id="rId10" Type="http://schemas.openxmlformats.org/officeDocument/2006/relationships/hyperlink" Target="https://drive.google.com/drive/folders/1gYk0cvHikT3Tml1Qc1kkCl0QgwzYVCQ-" TargetMode="External"/><Relationship Id="rId12" Type="http://schemas.openxmlformats.org/officeDocument/2006/relationships/hyperlink" Target="https://drive.google.com/drive/folders/1quS3nfv_SXamZv0BLMyxTA2dbtNV4cUO" TargetMode="External"/><Relationship Id="rId9" Type="http://schemas.openxmlformats.org/officeDocument/2006/relationships/hyperlink" Target="https://drive.google.com/drive/folders/18DroXFY31HgSaoiantHgChdkY3IB7f_5" TargetMode="External"/><Relationship Id="rId5" Type="http://schemas.openxmlformats.org/officeDocument/2006/relationships/image" Target="../media/image21.png"/><Relationship Id="rId6" Type="http://schemas.openxmlformats.org/officeDocument/2006/relationships/image" Target="../media/image20.png"/><Relationship Id="rId7" Type="http://schemas.openxmlformats.org/officeDocument/2006/relationships/image" Target="../media/image22.png"/><Relationship Id="rId8"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jpg"/><Relationship Id="rId4" Type="http://schemas.openxmlformats.org/officeDocument/2006/relationships/image" Target="../media/image19.png"/><Relationship Id="rId11" Type="http://schemas.openxmlformats.org/officeDocument/2006/relationships/hyperlink" Target="https://docs.google.com/document/d/1v5-U0dUw7YxNvuqC7-PWiKle8wxV9DGc/edit?usp=sharing&amp;ouid=111224606874789347747&amp;rtpof=true&amp;sd=true" TargetMode="External"/><Relationship Id="rId10" Type="http://schemas.openxmlformats.org/officeDocument/2006/relationships/hyperlink" Target="https://docs.google.com/document/d/1MHyEvzr35HNtguFJ-BXZkQXafH0wUu_Z/edit?usp=sharing&amp;ouid=111224606874789347747&amp;rtpof=true&amp;sd=true" TargetMode="External"/><Relationship Id="rId9" Type="http://schemas.openxmlformats.org/officeDocument/2006/relationships/hyperlink" Target="https://docs.google.com/spreadsheets/d/17GCD0G4hYVVwexF3-EiYOfKhg6KjVt2a/edit?usp=sharing&amp;ouid=111224606874789347747&amp;rtpof=true&amp;sd=true" TargetMode="External"/><Relationship Id="rId5" Type="http://schemas.openxmlformats.org/officeDocument/2006/relationships/image" Target="../media/image26.png"/><Relationship Id="rId6" Type="http://schemas.openxmlformats.org/officeDocument/2006/relationships/image" Target="../media/image24.png"/><Relationship Id="rId7" Type="http://schemas.openxmlformats.org/officeDocument/2006/relationships/image" Target="../media/image27.png"/><Relationship Id="rId8"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8.jpg"/><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0" l="-99" r="-26434" t="-49871"/>
            </a:stretch>
          </a:blipFill>
          <a:ln>
            <a:noFill/>
          </a:ln>
        </p:spPr>
      </p:sp>
      <p:sp>
        <p:nvSpPr>
          <p:cNvPr id="85" name="Google Shape;85;p1"/>
          <p:cNvSpPr/>
          <p:nvPr/>
        </p:nvSpPr>
        <p:spPr>
          <a:xfrm rot="947187">
            <a:off x="-918957" y="6921833"/>
            <a:ext cx="4768753" cy="5298615"/>
          </a:xfrm>
          <a:custGeom>
            <a:rect b="b" l="l" r="r" t="t"/>
            <a:pathLst>
              <a:path extrusionOk="0" h="5298615" w="4768753">
                <a:moveTo>
                  <a:pt x="0" y="0"/>
                </a:moveTo>
                <a:lnTo>
                  <a:pt x="4768753" y="0"/>
                </a:lnTo>
                <a:lnTo>
                  <a:pt x="4768753" y="5298614"/>
                </a:lnTo>
                <a:lnTo>
                  <a:pt x="0" y="5298614"/>
                </a:lnTo>
                <a:lnTo>
                  <a:pt x="0" y="0"/>
                </a:lnTo>
                <a:close/>
              </a:path>
            </a:pathLst>
          </a:custGeom>
          <a:blipFill rotWithShape="1">
            <a:blip r:embed="rId4">
              <a:alphaModFix/>
            </a:blip>
            <a:stretch>
              <a:fillRect b="0" l="0" r="0" t="0"/>
            </a:stretch>
          </a:blipFill>
          <a:ln>
            <a:noFill/>
          </a:ln>
        </p:spPr>
      </p:sp>
      <p:sp>
        <p:nvSpPr>
          <p:cNvPr id="86" name="Google Shape;86;p1"/>
          <p:cNvSpPr/>
          <p:nvPr/>
        </p:nvSpPr>
        <p:spPr>
          <a:xfrm rot="947187">
            <a:off x="15421172" y="-1328959"/>
            <a:ext cx="4768753" cy="5298615"/>
          </a:xfrm>
          <a:custGeom>
            <a:rect b="b" l="l" r="r" t="t"/>
            <a:pathLst>
              <a:path extrusionOk="0" h="5298615" w="4768753">
                <a:moveTo>
                  <a:pt x="0" y="0"/>
                </a:moveTo>
                <a:lnTo>
                  <a:pt x="4768754" y="0"/>
                </a:lnTo>
                <a:lnTo>
                  <a:pt x="4768754" y="5298615"/>
                </a:lnTo>
                <a:lnTo>
                  <a:pt x="0" y="5298615"/>
                </a:lnTo>
                <a:lnTo>
                  <a:pt x="0" y="0"/>
                </a:lnTo>
                <a:close/>
              </a:path>
            </a:pathLst>
          </a:custGeom>
          <a:blipFill rotWithShape="1">
            <a:blip r:embed="rId4">
              <a:alphaModFix/>
            </a:blip>
            <a:stretch>
              <a:fillRect b="0" l="0" r="0" t="0"/>
            </a:stretch>
          </a:blipFill>
          <a:ln>
            <a:noFill/>
          </a:ln>
        </p:spPr>
      </p:sp>
      <p:sp>
        <p:nvSpPr>
          <p:cNvPr id="87" name="Google Shape;87;p1"/>
          <p:cNvSpPr txBox="1"/>
          <p:nvPr/>
        </p:nvSpPr>
        <p:spPr>
          <a:xfrm>
            <a:off x="165466" y="1217990"/>
            <a:ext cx="9609223" cy="5329648"/>
          </a:xfrm>
          <a:prstGeom prst="rect">
            <a:avLst/>
          </a:prstGeom>
          <a:noFill/>
          <a:ln>
            <a:noFill/>
          </a:ln>
        </p:spPr>
        <p:txBody>
          <a:bodyPr anchorCtr="0" anchor="t" bIns="0" lIns="0" spcFirstLastPara="1" rIns="0" wrap="square" tIns="0">
            <a:spAutoFit/>
          </a:bodyPr>
          <a:lstStyle/>
          <a:p>
            <a:pPr indent="0" lvl="0" marL="0" marR="0" rtl="0" algn="ctr">
              <a:lnSpc>
                <a:spcPct val="96998"/>
              </a:lnSpc>
              <a:spcBef>
                <a:spcPts val="0"/>
              </a:spcBef>
              <a:spcAft>
                <a:spcPts val="0"/>
              </a:spcAft>
              <a:buNone/>
            </a:pPr>
            <a:r>
              <a:rPr b="0" i="0" lang="en-US" sz="10662" u="none" cap="none" strike="noStrike">
                <a:solidFill>
                  <a:srgbClr val="DBC096"/>
                </a:solidFill>
                <a:latin typeface="Arial"/>
                <a:ea typeface="Arial"/>
                <a:cs typeface="Arial"/>
                <a:sym typeface="Arial"/>
              </a:rPr>
              <a:t>ANALISIS Y DESARROLLO DE SOFTWARE</a:t>
            </a:r>
            <a:endParaRPr/>
          </a:p>
        </p:txBody>
      </p:sp>
      <p:sp>
        <p:nvSpPr>
          <p:cNvPr id="88" name="Google Shape;88;p1"/>
          <p:cNvSpPr txBox="1"/>
          <p:nvPr/>
        </p:nvSpPr>
        <p:spPr>
          <a:xfrm>
            <a:off x="5908997" y="5509482"/>
            <a:ext cx="13256953" cy="86360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5000" u="none" cap="none" strike="noStrike">
                <a:solidFill>
                  <a:srgbClr val="DBC096"/>
                </a:solidFill>
                <a:latin typeface="Belleza"/>
                <a:ea typeface="Belleza"/>
                <a:cs typeface="Belleza"/>
                <a:sym typeface="Belleza"/>
              </a:rPr>
              <a:t>NAY EVENTOS WEB</a:t>
            </a:r>
            <a:endParaRPr/>
          </a:p>
        </p:txBody>
      </p:sp>
      <p:sp>
        <p:nvSpPr>
          <p:cNvPr id="89" name="Google Shape;89;p1"/>
          <p:cNvSpPr txBox="1"/>
          <p:nvPr/>
        </p:nvSpPr>
        <p:spPr>
          <a:xfrm>
            <a:off x="9639596" y="6677057"/>
            <a:ext cx="13256953" cy="275018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0" i="0" lang="en-US" sz="2800" u="none" cap="none" strike="noStrike">
                <a:solidFill>
                  <a:srgbClr val="DBC096"/>
                </a:solidFill>
                <a:latin typeface="Belleza"/>
                <a:ea typeface="Belleza"/>
                <a:cs typeface="Belleza"/>
                <a:sym typeface="Belleza"/>
              </a:rPr>
              <a:t>INTEGRANTES:</a:t>
            </a:r>
            <a:endParaRPr/>
          </a:p>
          <a:p>
            <a:pPr indent="0" lvl="0" marL="0" marR="0" rtl="0" algn="l">
              <a:lnSpc>
                <a:spcPct val="110000"/>
              </a:lnSpc>
              <a:spcBef>
                <a:spcPts val="0"/>
              </a:spcBef>
              <a:spcAft>
                <a:spcPts val="0"/>
              </a:spcAft>
              <a:buNone/>
            </a:pPr>
            <a:r>
              <a:rPr b="0" i="0" lang="en-US" sz="2800" u="none" cap="none" strike="noStrike">
                <a:solidFill>
                  <a:srgbClr val="DBC096"/>
                </a:solidFill>
                <a:latin typeface="Belleza"/>
                <a:ea typeface="Belleza"/>
                <a:cs typeface="Belleza"/>
                <a:sym typeface="Belleza"/>
              </a:rPr>
              <a:t>-ANDRES JIMENEZ</a:t>
            </a:r>
            <a:endParaRPr/>
          </a:p>
          <a:p>
            <a:pPr indent="0" lvl="0" marL="0" marR="0" rtl="0" algn="l">
              <a:lnSpc>
                <a:spcPct val="110000"/>
              </a:lnSpc>
              <a:spcBef>
                <a:spcPts val="0"/>
              </a:spcBef>
              <a:spcAft>
                <a:spcPts val="0"/>
              </a:spcAft>
              <a:buNone/>
            </a:pPr>
            <a:r>
              <a:rPr b="0" i="0" lang="en-US" sz="2800" u="none" cap="none" strike="noStrike">
                <a:solidFill>
                  <a:srgbClr val="DBC096"/>
                </a:solidFill>
                <a:latin typeface="Belleza"/>
                <a:ea typeface="Belleza"/>
                <a:cs typeface="Belleza"/>
                <a:sym typeface="Belleza"/>
              </a:rPr>
              <a:t>-CRISTIAN PEÑUELA</a:t>
            </a:r>
            <a:endParaRPr/>
          </a:p>
          <a:p>
            <a:pPr indent="0" lvl="0" marL="0" marR="0" rtl="0" algn="l">
              <a:lnSpc>
                <a:spcPct val="110000"/>
              </a:lnSpc>
              <a:spcBef>
                <a:spcPts val="0"/>
              </a:spcBef>
              <a:spcAft>
                <a:spcPts val="0"/>
              </a:spcAft>
              <a:buNone/>
            </a:pPr>
            <a:r>
              <a:rPr b="0" i="0" lang="en-US" sz="2800" u="none" cap="none" strike="noStrike">
                <a:solidFill>
                  <a:srgbClr val="DBC096"/>
                </a:solidFill>
                <a:latin typeface="Belleza"/>
                <a:ea typeface="Belleza"/>
                <a:cs typeface="Belleza"/>
                <a:sym typeface="Belleza"/>
              </a:rPr>
              <a:t>-SHARON GAMBA</a:t>
            </a:r>
            <a:endParaRPr/>
          </a:p>
          <a:p>
            <a:pPr indent="0" lvl="0" marL="0" marR="0" rtl="0" algn="l">
              <a:lnSpc>
                <a:spcPct val="110000"/>
              </a:lnSpc>
              <a:spcBef>
                <a:spcPts val="0"/>
              </a:spcBef>
              <a:spcAft>
                <a:spcPts val="0"/>
              </a:spcAft>
              <a:buNone/>
            </a:pPr>
            <a:r>
              <a:rPr b="0" i="0" lang="en-US" sz="2800" u="none" cap="none" strike="noStrike">
                <a:solidFill>
                  <a:srgbClr val="DBC096"/>
                </a:solidFill>
                <a:latin typeface="Belleza"/>
                <a:ea typeface="Belleza"/>
                <a:cs typeface="Belleza"/>
                <a:sym typeface="Belleza"/>
              </a:rPr>
              <a:t>-LORENA FIERRO</a:t>
            </a:r>
            <a:endParaRPr/>
          </a:p>
          <a:p>
            <a:pPr indent="0" lvl="0" marL="0" marR="0" rtl="0" algn="l">
              <a:lnSpc>
                <a:spcPct val="110000"/>
              </a:lnSpc>
              <a:spcBef>
                <a:spcPts val="0"/>
              </a:spcBef>
              <a:spcAft>
                <a:spcPts val="0"/>
              </a:spcAft>
              <a:buNone/>
            </a:pPr>
            <a:r>
              <a:rPr b="0" i="0" lang="en-US" sz="2800" u="none" cap="none" strike="noStrike">
                <a:solidFill>
                  <a:srgbClr val="DBC096"/>
                </a:solidFill>
                <a:latin typeface="Belleza"/>
                <a:ea typeface="Belleza"/>
                <a:cs typeface="Belleza"/>
                <a:sym typeface="Belleza"/>
              </a:rPr>
              <a:t>-VALENTINA SIERRA</a:t>
            </a:r>
            <a:endParaRPr/>
          </a:p>
          <a:p>
            <a:pPr indent="0" lvl="0" marL="0" marR="0" rtl="0" algn="l">
              <a:lnSpc>
                <a:spcPct val="110000"/>
              </a:lnSpc>
              <a:spcBef>
                <a:spcPts val="0"/>
              </a:spcBef>
              <a:spcAft>
                <a:spcPts val="0"/>
              </a:spcAft>
              <a:buNone/>
            </a:pPr>
            <a:r>
              <a:t/>
            </a:r>
            <a:endParaRPr b="0" i="0" sz="2800" u="none" cap="none" strike="noStrike">
              <a:solidFill>
                <a:srgbClr val="DBC096"/>
              </a:solidFill>
              <a:latin typeface="Belleza"/>
              <a:ea typeface="Belleza"/>
              <a:cs typeface="Belleza"/>
              <a:sym typeface="Bellez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9222" l="0" r="0" t="-9222"/>
            </a:stretch>
          </a:blipFill>
          <a:ln>
            <a:noFill/>
          </a:ln>
        </p:spPr>
      </p:sp>
      <p:sp>
        <p:nvSpPr>
          <p:cNvPr id="95" name="Google Shape;95;p2"/>
          <p:cNvSpPr/>
          <p:nvPr/>
        </p:nvSpPr>
        <p:spPr>
          <a:xfrm rot="10800000">
            <a:off x="-305594" y="-650804"/>
            <a:ext cx="6447480" cy="11588609"/>
          </a:xfrm>
          <a:custGeom>
            <a:rect b="b" l="l" r="r" t="t"/>
            <a:pathLst>
              <a:path extrusionOk="0" h="11588609" w="6447480">
                <a:moveTo>
                  <a:pt x="6447480" y="11588608"/>
                </a:moveTo>
                <a:lnTo>
                  <a:pt x="0" y="11588608"/>
                </a:lnTo>
                <a:lnTo>
                  <a:pt x="0" y="0"/>
                </a:lnTo>
                <a:lnTo>
                  <a:pt x="6447480" y="0"/>
                </a:lnTo>
                <a:lnTo>
                  <a:pt x="6447480" y="11588608"/>
                </a:lnTo>
                <a:close/>
              </a:path>
            </a:pathLst>
          </a:custGeom>
          <a:blipFill rotWithShape="1">
            <a:blip r:embed="rId4">
              <a:alphaModFix/>
            </a:blip>
            <a:stretch>
              <a:fillRect b="0" l="0" r="0" t="0"/>
            </a:stretch>
          </a:blipFill>
          <a:ln>
            <a:noFill/>
          </a:ln>
        </p:spPr>
      </p:sp>
      <p:sp>
        <p:nvSpPr>
          <p:cNvPr id="96" name="Google Shape;96;p2"/>
          <p:cNvSpPr txBox="1"/>
          <p:nvPr/>
        </p:nvSpPr>
        <p:spPr>
          <a:xfrm>
            <a:off x="10524495" y="5095875"/>
            <a:ext cx="5537606" cy="2174875"/>
          </a:xfrm>
          <a:prstGeom prst="rect">
            <a:avLst/>
          </a:prstGeom>
          <a:noFill/>
          <a:ln>
            <a:noFill/>
          </a:ln>
        </p:spPr>
        <p:txBody>
          <a:bodyPr anchorCtr="0" anchor="t" bIns="0" lIns="0" spcFirstLastPara="1" rIns="0" wrap="square" tIns="0">
            <a:spAutoFit/>
          </a:bodyPr>
          <a:lstStyle/>
          <a:p>
            <a:pPr indent="0" lvl="0" marL="0" marR="0" rtl="0" algn="just">
              <a:lnSpc>
                <a:spcPct val="140016"/>
              </a:lnSpc>
              <a:spcBef>
                <a:spcPts val="0"/>
              </a:spcBef>
              <a:spcAft>
                <a:spcPts val="0"/>
              </a:spcAft>
              <a:buNone/>
            </a:pPr>
            <a:r>
              <a:rPr b="0" i="0" lang="en-US" sz="2499" u="none" cap="none" strike="noStrike">
                <a:solidFill>
                  <a:srgbClr val="FAF6F0"/>
                </a:solidFill>
                <a:latin typeface="Belleza"/>
                <a:ea typeface="Belleza"/>
                <a:cs typeface="Belleza"/>
                <a:sym typeface="Belleza"/>
              </a:rPr>
              <a:t>El proyecto Nay Eventos Web (NEW) es una plataforma para gestionar inventario, clientes y servicios de alquiler de eventos. Busca mejorar la organización y la atención al cliente mediante el uso de tecnología.</a:t>
            </a:r>
            <a:endParaRPr/>
          </a:p>
        </p:txBody>
      </p:sp>
      <p:sp>
        <p:nvSpPr>
          <p:cNvPr id="97" name="Google Shape;97;p2"/>
          <p:cNvSpPr txBox="1"/>
          <p:nvPr/>
        </p:nvSpPr>
        <p:spPr>
          <a:xfrm>
            <a:off x="10524495" y="3638955"/>
            <a:ext cx="7296454" cy="5715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0" i="0" lang="en-US" sz="4500" u="none" cap="none" strike="noStrike">
                <a:solidFill>
                  <a:srgbClr val="DBC096"/>
                </a:solidFill>
                <a:latin typeface="Arial"/>
                <a:ea typeface="Arial"/>
                <a:cs typeface="Arial"/>
                <a:sym typeface="Arial"/>
              </a:rPr>
              <a:t>NAY EVENTOS WEB</a:t>
            </a:r>
            <a:endParaRPr/>
          </a:p>
        </p:txBody>
      </p:sp>
      <p:pic>
        <p:nvPicPr>
          <p:cNvPr id="98" name="Google Shape;98;p2"/>
          <p:cNvPicPr preferRelativeResize="0"/>
          <p:nvPr/>
        </p:nvPicPr>
        <p:blipFill rotWithShape="1">
          <a:blip r:embed="rId5">
            <a:alphaModFix/>
          </a:blip>
          <a:srcRect b="0" l="1170" r="1170" t="0"/>
          <a:stretch/>
        </p:blipFill>
        <p:spPr>
          <a:xfrm>
            <a:off x="2080512" y="2282603"/>
            <a:ext cx="6335315" cy="634256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9222" l="0" r="0" t="-9222"/>
            </a:stretch>
          </a:blipFill>
          <a:ln>
            <a:noFill/>
          </a:ln>
        </p:spPr>
      </p:sp>
      <p:sp>
        <p:nvSpPr>
          <p:cNvPr id="104" name="Google Shape;104;p3"/>
          <p:cNvSpPr/>
          <p:nvPr/>
        </p:nvSpPr>
        <p:spPr>
          <a:xfrm rot="7888905">
            <a:off x="-6269469" y="-6332652"/>
            <a:ext cx="11019346" cy="12092561"/>
          </a:xfrm>
          <a:custGeom>
            <a:rect b="b" l="l" r="r" t="t"/>
            <a:pathLst>
              <a:path extrusionOk="0" h="12092561" w="11019346">
                <a:moveTo>
                  <a:pt x="0" y="0"/>
                </a:moveTo>
                <a:lnTo>
                  <a:pt x="11019346" y="0"/>
                </a:lnTo>
                <a:lnTo>
                  <a:pt x="11019346" y="12092561"/>
                </a:lnTo>
                <a:lnTo>
                  <a:pt x="0" y="12092561"/>
                </a:lnTo>
                <a:lnTo>
                  <a:pt x="0" y="0"/>
                </a:lnTo>
                <a:close/>
              </a:path>
            </a:pathLst>
          </a:custGeom>
          <a:blipFill rotWithShape="1">
            <a:blip r:embed="rId4">
              <a:alphaModFix/>
            </a:blip>
            <a:stretch>
              <a:fillRect b="0" l="0" r="0" t="0"/>
            </a:stretch>
          </a:blipFill>
          <a:ln>
            <a:noFill/>
          </a:ln>
        </p:spPr>
      </p:sp>
      <p:sp>
        <p:nvSpPr>
          <p:cNvPr id="105" name="Google Shape;105;p3"/>
          <p:cNvSpPr/>
          <p:nvPr/>
        </p:nvSpPr>
        <p:spPr>
          <a:xfrm rot="-913312">
            <a:off x="14762046" y="5239159"/>
            <a:ext cx="7499223" cy="8229600"/>
          </a:xfrm>
          <a:custGeom>
            <a:rect b="b" l="l" r="r" t="t"/>
            <a:pathLst>
              <a:path extrusionOk="0" h="8229600" w="7499223">
                <a:moveTo>
                  <a:pt x="0" y="0"/>
                </a:moveTo>
                <a:lnTo>
                  <a:pt x="7499223" y="0"/>
                </a:lnTo>
                <a:lnTo>
                  <a:pt x="7499223" y="8229600"/>
                </a:lnTo>
                <a:lnTo>
                  <a:pt x="0" y="8229600"/>
                </a:lnTo>
                <a:lnTo>
                  <a:pt x="0" y="0"/>
                </a:lnTo>
                <a:close/>
              </a:path>
            </a:pathLst>
          </a:custGeom>
          <a:blipFill rotWithShape="1">
            <a:blip r:embed="rId5">
              <a:alphaModFix/>
            </a:blip>
            <a:stretch>
              <a:fillRect b="0" l="0" r="0" t="0"/>
            </a:stretch>
          </a:blipFill>
          <a:ln>
            <a:noFill/>
          </a:ln>
        </p:spPr>
      </p:sp>
      <p:sp>
        <p:nvSpPr>
          <p:cNvPr id="106" name="Google Shape;106;p3"/>
          <p:cNvSpPr/>
          <p:nvPr/>
        </p:nvSpPr>
        <p:spPr>
          <a:xfrm>
            <a:off x="1028700" y="4617154"/>
            <a:ext cx="4630348" cy="4630348"/>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6">
              <a:alphaModFix/>
            </a:blip>
            <a:stretch>
              <a:fillRect b="0" l="-21276" r="-21276"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3"/>
          <p:cNvSpPr/>
          <p:nvPr/>
        </p:nvSpPr>
        <p:spPr>
          <a:xfrm>
            <a:off x="12747194" y="578169"/>
            <a:ext cx="4630348" cy="4630348"/>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7">
              <a:alphaModFix/>
            </a:blip>
            <a:stretch>
              <a:fillRect b="0" l="-28974" r="-28974"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3"/>
          <p:cNvSpPr/>
          <p:nvPr/>
        </p:nvSpPr>
        <p:spPr>
          <a:xfrm>
            <a:off x="5550701" y="4591710"/>
            <a:ext cx="6806145" cy="1233614"/>
          </a:xfrm>
          <a:custGeom>
            <a:rect b="b" l="l" r="r" t="t"/>
            <a:pathLst>
              <a:path extrusionOk="0" h="1233614" w="6806145">
                <a:moveTo>
                  <a:pt x="0" y="0"/>
                </a:moveTo>
                <a:lnTo>
                  <a:pt x="6806145" y="0"/>
                </a:lnTo>
                <a:lnTo>
                  <a:pt x="6806145" y="1233614"/>
                </a:lnTo>
                <a:lnTo>
                  <a:pt x="0" y="1233614"/>
                </a:lnTo>
                <a:lnTo>
                  <a:pt x="0" y="0"/>
                </a:lnTo>
                <a:close/>
              </a:path>
            </a:pathLst>
          </a:custGeom>
          <a:blipFill rotWithShape="1">
            <a:blip r:embed="rId8">
              <a:alphaModFix/>
            </a:blip>
            <a:stretch>
              <a:fillRect b="0" l="0" r="0" t="0"/>
            </a:stretch>
          </a:blipFill>
          <a:ln>
            <a:noFill/>
          </a:ln>
        </p:spPr>
      </p:sp>
      <p:sp>
        <p:nvSpPr>
          <p:cNvPr id="109" name="Google Shape;109;p3"/>
          <p:cNvSpPr txBox="1"/>
          <p:nvPr/>
        </p:nvSpPr>
        <p:spPr>
          <a:xfrm>
            <a:off x="6833795" y="3584604"/>
            <a:ext cx="11046102" cy="4091739"/>
          </a:xfrm>
          <a:prstGeom prst="rect">
            <a:avLst/>
          </a:prstGeom>
          <a:noFill/>
          <a:ln>
            <a:noFill/>
          </a:ln>
        </p:spPr>
        <p:txBody>
          <a:bodyPr anchorCtr="0" anchor="t" bIns="0" lIns="0" spcFirstLastPara="1" rIns="0" wrap="square" tIns="0">
            <a:spAutoFit/>
          </a:bodyPr>
          <a:lstStyle/>
          <a:p>
            <a:pPr indent="-281676" lvl="1" marL="563351" marR="0" rtl="0" algn="l">
              <a:lnSpc>
                <a:spcPct val="140015"/>
              </a:lnSpc>
              <a:spcBef>
                <a:spcPts val="0"/>
              </a:spcBef>
              <a:spcAft>
                <a:spcPts val="0"/>
              </a:spcAft>
              <a:buClr>
                <a:srgbClr val="FAF6F0"/>
              </a:buClr>
              <a:buSzPts val="2609"/>
              <a:buFont typeface="Arial"/>
              <a:buChar char="•"/>
            </a:pPr>
            <a:r>
              <a:rPr b="0" i="0" lang="en-US" sz="2609" u="none" cap="none" strike="noStrike">
                <a:solidFill>
                  <a:srgbClr val="FAF6F0"/>
                </a:solidFill>
                <a:latin typeface="Belleza"/>
                <a:ea typeface="Belleza"/>
                <a:cs typeface="Belleza"/>
                <a:sym typeface="Belleza"/>
              </a:rPr>
              <a:t>Introduccion</a:t>
            </a:r>
            <a:endParaRPr/>
          </a:p>
          <a:p>
            <a:pPr indent="-281676" lvl="1" marL="563351" marR="0" rtl="0" algn="l">
              <a:lnSpc>
                <a:spcPct val="140015"/>
              </a:lnSpc>
              <a:spcBef>
                <a:spcPts val="0"/>
              </a:spcBef>
              <a:spcAft>
                <a:spcPts val="0"/>
              </a:spcAft>
              <a:buClr>
                <a:srgbClr val="FAF6F0"/>
              </a:buClr>
              <a:buSzPts val="2609"/>
              <a:buFont typeface="Arial"/>
              <a:buChar char="•"/>
            </a:pPr>
            <a:r>
              <a:rPr b="0" i="0" lang="en-US" sz="2609" u="none" cap="none" strike="noStrike">
                <a:solidFill>
                  <a:srgbClr val="FAF6F0"/>
                </a:solidFill>
                <a:latin typeface="Belleza"/>
                <a:ea typeface="Belleza"/>
                <a:cs typeface="Belleza"/>
                <a:sym typeface="Belleza"/>
              </a:rPr>
              <a:t>Planteaminto del Problema</a:t>
            </a:r>
            <a:endParaRPr/>
          </a:p>
          <a:p>
            <a:pPr indent="-281676" lvl="1" marL="563351" marR="0" rtl="0" algn="l">
              <a:lnSpc>
                <a:spcPct val="140015"/>
              </a:lnSpc>
              <a:spcBef>
                <a:spcPts val="0"/>
              </a:spcBef>
              <a:spcAft>
                <a:spcPts val="0"/>
              </a:spcAft>
              <a:buClr>
                <a:srgbClr val="FAF6F0"/>
              </a:buClr>
              <a:buSzPts val="2609"/>
              <a:buFont typeface="Arial"/>
              <a:buChar char="•"/>
            </a:pPr>
            <a:r>
              <a:rPr b="0" i="0" lang="en-US" sz="2609" u="none" cap="none" strike="noStrike">
                <a:solidFill>
                  <a:srgbClr val="FAF6F0"/>
                </a:solidFill>
                <a:latin typeface="Belleza"/>
                <a:ea typeface="Belleza"/>
                <a:cs typeface="Belleza"/>
                <a:sym typeface="Belleza"/>
              </a:rPr>
              <a:t>Pregunta Problema</a:t>
            </a:r>
            <a:endParaRPr/>
          </a:p>
          <a:p>
            <a:pPr indent="-281676" lvl="1" marL="563351" marR="0" rtl="0" algn="l">
              <a:lnSpc>
                <a:spcPct val="140015"/>
              </a:lnSpc>
              <a:spcBef>
                <a:spcPts val="0"/>
              </a:spcBef>
              <a:spcAft>
                <a:spcPts val="0"/>
              </a:spcAft>
              <a:buClr>
                <a:srgbClr val="FAF6F0"/>
              </a:buClr>
              <a:buSzPts val="2609"/>
              <a:buFont typeface="Arial"/>
              <a:buChar char="•"/>
            </a:pPr>
            <a:r>
              <a:rPr b="0" i="0" lang="en-US" sz="2609" u="none" cap="none" strike="noStrike">
                <a:solidFill>
                  <a:srgbClr val="FAF6F0"/>
                </a:solidFill>
                <a:latin typeface="Belleza"/>
                <a:ea typeface="Belleza"/>
                <a:cs typeface="Belleza"/>
                <a:sym typeface="Belleza"/>
              </a:rPr>
              <a:t>Justificación</a:t>
            </a:r>
            <a:endParaRPr/>
          </a:p>
          <a:p>
            <a:pPr indent="-281676" lvl="1" marL="563351" marR="0" rtl="0" algn="l">
              <a:lnSpc>
                <a:spcPct val="140015"/>
              </a:lnSpc>
              <a:spcBef>
                <a:spcPts val="0"/>
              </a:spcBef>
              <a:spcAft>
                <a:spcPts val="0"/>
              </a:spcAft>
              <a:buClr>
                <a:srgbClr val="FAF6F0"/>
              </a:buClr>
              <a:buSzPts val="2609"/>
              <a:buFont typeface="Arial"/>
              <a:buChar char="•"/>
            </a:pPr>
            <a:r>
              <a:rPr b="0" i="0" lang="en-US" sz="2609" u="none" cap="none" strike="noStrike">
                <a:solidFill>
                  <a:srgbClr val="FAF6F0"/>
                </a:solidFill>
                <a:latin typeface="Belleza"/>
                <a:ea typeface="Belleza"/>
                <a:cs typeface="Belleza"/>
                <a:sym typeface="Belleza"/>
              </a:rPr>
              <a:t>Objetivo General</a:t>
            </a:r>
            <a:endParaRPr/>
          </a:p>
          <a:p>
            <a:pPr indent="-281676" lvl="1" marL="563351" marR="0" rtl="0" algn="l">
              <a:lnSpc>
                <a:spcPct val="140015"/>
              </a:lnSpc>
              <a:spcBef>
                <a:spcPts val="0"/>
              </a:spcBef>
              <a:spcAft>
                <a:spcPts val="0"/>
              </a:spcAft>
              <a:buClr>
                <a:srgbClr val="FAF6F0"/>
              </a:buClr>
              <a:buSzPts val="2609"/>
              <a:buFont typeface="Arial"/>
              <a:buChar char="•"/>
            </a:pPr>
            <a:r>
              <a:rPr b="0" i="0" lang="en-US" sz="2609" u="none" cap="none" strike="noStrike">
                <a:solidFill>
                  <a:srgbClr val="FAF6F0"/>
                </a:solidFill>
                <a:latin typeface="Belleza"/>
                <a:ea typeface="Belleza"/>
                <a:cs typeface="Belleza"/>
                <a:sym typeface="Belleza"/>
              </a:rPr>
              <a:t>Objetivos Específicos</a:t>
            </a:r>
            <a:endParaRPr/>
          </a:p>
          <a:p>
            <a:pPr indent="-281676" lvl="1" marL="563351" marR="0" rtl="0" algn="l">
              <a:lnSpc>
                <a:spcPct val="140015"/>
              </a:lnSpc>
              <a:spcBef>
                <a:spcPts val="0"/>
              </a:spcBef>
              <a:spcAft>
                <a:spcPts val="0"/>
              </a:spcAft>
              <a:buClr>
                <a:srgbClr val="FAF6F0"/>
              </a:buClr>
              <a:buSzPts val="2609"/>
              <a:buFont typeface="Arial"/>
              <a:buChar char="•"/>
            </a:pPr>
            <a:r>
              <a:rPr b="0" i="0" lang="en-US" sz="2609" u="none" cap="none" strike="noStrike">
                <a:solidFill>
                  <a:srgbClr val="FAF6F0"/>
                </a:solidFill>
                <a:latin typeface="Belleza"/>
                <a:ea typeface="Belleza"/>
                <a:cs typeface="Belleza"/>
                <a:sym typeface="Belleza"/>
              </a:rPr>
              <a:t>Delimitación y Alcance</a:t>
            </a:r>
            <a:endParaRPr/>
          </a:p>
          <a:p>
            <a:pPr indent="-281676" lvl="1" marL="563351" marR="0" rtl="0" algn="l">
              <a:lnSpc>
                <a:spcPct val="140015"/>
              </a:lnSpc>
              <a:spcBef>
                <a:spcPts val="0"/>
              </a:spcBef>
              <a:spcAft>
                <a:spcPts val="0"/>
              </a:spcAft>
              <a:buClr>
                <a:srgbClr val="FAF6F0"/>
              </a:buClr>
              <a:buSzPts val="2609"/>
              <a:buFont typeface="Arial"/>
              <a:buChar char="•"/>
            </a:pPr>
            <a:r>
              <a:rPr b="0" i="0" lang="en-US" sz="2609" u="none" cap="none" strike="noStrike">
                <a:solidFill>
                  <a:srgbClr val="FAF6F0"/>
                </a:solidFill>
                <a:latin typeface="Belleza"/>
                <a:ea typeface="Belleza"/>
                <a:cs typeface="Belleza"/>
                <a:sym typeface="Belleza"/>
              </a:rPr>
              <a:t>Links Adicionales</a:t>
            </a:r>
            <a:endParaRPr/>
          </a:p>
          <a:p>
            <a:pPr indent="0" lvl="0" marL="0" marR="0" rtl="0" algn="l">
              <a:lnSpc>
                <a:spcPct val="140015"/>
              </a:lnSpc>
              <a:spcBef>
                <a:spcPts val="0"/>
              </a:spcBef>
              <a:spcAft>
                <a:spcPts val="0"/>
              </a:spcAft>
              <a:buNone/>
            </a:pPr>
            <a:r>
              <a:t/>
            </a:r>
            <a:endParaRPr b="0" i="0" sz="2609" u="none" cap="none" strike="noStrike">
              <a:solidFill>
                <a:srgbClr val="FAF6F0"/>
              </a:solidFill>
              <a:latin typeface="Belleza"/>
              <a:ea typeface="Belleza"/>
              <a:cs typeface="Belleza"/>
              <a:sym typeface="Belleza"/>
            </a:endParaRPr>
          </a:p>
        </p:txBody>
      </p:sp>
      <p:sp>
        <p:nvSpPr>
          <p:cNvPr id="110" name="Google Shape;110;p3"/>
          <p:cNvSpPr txBox="1"/>
          <p:nvPr/>
        </p:nvSpPr>
        <p:spPr>
          <a:xfrm>
            <a:off x="5008952" y="2187141"/>
            <a:ext cx="7620000" cy="552449"/>
          </a:xfrm>
          <a:prstGeom prst="rect">
            <a:avLst/>
          </a:prstGeom>
          <a:noFill/>
          <a:ln>
            <a:noFill/>
          </a:ln>
        </p:spPr>
        <p:txBody>
          <a:bodyPr anchorCtr="0" anchor="t" bIns="0" lIns="0" spcFirstLastPara="1" rIns="0" wrap="square" tIns="0">
            <a:spAutoFit/>
          </a:bodyPr>
          <a:lstStyle/>
          <a:p>
            <a:pPr indent="0" lvl="0" marL="0" marR="0" rtl="0" algn="just">
              <a:lnSpc>
                <a:spcPct val="89997"/>
              </a:lnSpc>
              <a:spcBef>
                <a:spcPts val="0"/>
              </a:spcBef>
              <a:spcAft>
                <a:spcPts val="0"/>
              </a:spcAft>
              <a:buNone/>
            </a:pPr>
            <a:r>
              <a:rPr b="0" i="0" lang="en-US" sz="4499" u="none" cap="none" strike="noStrike">
                <a:solidFill>
                  <a:srgbClr val="DBC096"/>
                </a:solidFill>
                <a:latin typeface="Arial"/>
                <a:ea typeface="Arial"/>
                <a:cs typeface="Arial"/>
                <a:sym typeface="Arial"/>
              </a:rPr>
              <a:t>Componentes Metodologicos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
          <p:cNvSpPr/>
          <p:nvPr/>
        </p:nvSpPr>
        <p:spPr>
          <a:xfrm flipH="1" rot="10800000">
            <a:off x="0" y="0"/>
            <a:ext cx="18288000" cy="10287000"/>
          </a:xfrm>
          <a:custGeom>
            <a:rect b="b" l="l" r="r" t="t"/>
            <a:pathLst>
              <a:path extrusionOk="0" h="10287000" w="18288000">
                <a:moveTo>
                  <a:pt x="0" y="10287000"/>
                </a:moveTo>
                <a:lnTo>
                  <a:pt x="18288000" y="10287000"/>
                </a:lnTo>
                <a:lnTo>
                  <a:pt x="18288000" y="0"/>
                </a:lnTo>
                <a:lnTo>
                  <a:pt x="0" y="0"/>
                </a:lnTo>
                <a:lnTo>
                  <a:pt x="0" y="10287000"/>
                </a:lnTo>
                <a:close/>
              </a:path>
            </a:pathLst>
          </a:custGeom>
          <a:blipFill rotWithShape="1">
            <a:blip r:embed="rId3">
              <a:alphaModFix/>
            </a:blip>
            <a:stretch>
              <a:fillRect b="-9222" l="0" r="0" t="-9222"/>
            </a:stretch>
          </a:blipFill>
          <a:ln>
            <a:noFill/>
          </a:ln>
        </p:spPr>
      </p:sp>
      <p:sp>
        <p:nvSpPr>
          <p:cNvPr id="116" name="Google Shape;116;p4"/>
          <p:cNvSpPr/>
          <p:nvPr/>
        </p:nvSpPr>
        <p:spPr>
          <a:xfrm flipH="1">
            <a:off x="-2548956" y="-1201297"/>
            <a:ext cx="7481823" cy="13447722"/>
          </a:xfrm>
          <a:custGeom>
            <a:rect b="b" l="l" r="r" t="t"/>
            <a:pathLst>
              <a:path extrusionOk="0" h="13447722" w="7481823">
                <a:moveTo>
                  <a:pt x="7481823" y="0"/>
                </a:moveTo>
                <a:lnTo>
                  <a:pt x="0" y="0"/>
                </a:lnTo>
                <a:lnTo>
                  <a:pt x="0" y="13447722"/>
                </a:lnTo>
                <a:lnTo>
                  <a:pt x="7481823" y="13447722"/>
                </a:lnTo>
                <a:lnTo>
                  <a:pt x="7481823" y="0"/>
                </a:lnTo>
                <a:close/>
              </a:path>
            </a:pathLst>
          </a:custGeom>
          <a:blipFill rotWithShape="1">
            <a:blip r:embed="rId4">
              <a:alphaModFix/>
            </a:blip>
            <a:stretch>
              <a:fillRect b="0" l="0" r="0" t="0"/>
            </a:stretch>
          </a:blipFill>
          <a:ln>
            <a:noFill/>
          </a:ln>
        </p:spPr>
      </p:sp>
      <p:sp>
        <p:nvSpPr>
          <p:cNvPr id="117" name="Google Shape;117;p4"/>
          <p:cNvSpPr/>
          <p:nvPr/>
        </p:nvSpPr>
        <p:spPr>
          <a:xfrm>
            <a:off x="9546774" y="6766828"/>
            <a:ext cx="4667675" cy="2491472"/>
          </a:xfrm>
          <a:custGeom>
            <a:rect b="b" l="l" r="r" t="t"/>
            <a:pathLst>
              <a:path extrusionOk="0" h="385994" w="723145">
                <a:moveTo>
                  <a:pt x="38148" y="0"/>
                </a:moveTo>
                <a:lnTo>
                  <a:pt x="684997" y="0"/>
                </a:lnTo>
                <a:cubicBezTo>
                  <a:pt x="695114" y="0"/>
                  <a:pt x="704817" y="4019"/>
                  <a:pt x="711972" y="11173"/>
                </a:cubicBezTo>
                <a:cubicBezTo>
                  <a:pt x="719126" y="18328"/>
                  <a:pt x="723145" y="28031"/>
                  <a:pt x="723145" y="38148"/>
                </a:cubicBezTo>
                <a:lnTo>
                  <a:pt x="723145" y="347846"/>
                </a:lnTo>
                <a:cubicBezTo>
                  <a:pt x="723145" y="357963"/>
                  <a:pt x="719126" y="367667"/>
                  <a:pt x="711972" y="374821"/>
                </a:cubicBezTo>
                <a:cubicBezTo>
                  <a:pt x="704817" y="381975"/>
                  <a:pt x="695114" y="385994"/>
                  <a:pt x="684997" y="385994"/>
                </a:cubicBezTo>
                <a:lnTo>
                  <a:pt x="38148" y="385994"/>
                </a:lnTo>
                <a:cubicBezTo>
                  <a:pt x="28031" y="385994"/>
                  <a:pt x="18328" y="381975"/>
                  <a:pt x="11173" y="374821"/>
                </a:cubicBezTo>
                <a:cubicBezTo>
                  <a:pt x="4019" y="367667"/>
                  <a:pt x="0" y="357963"/>
                  <a:pt x="0" y="347846"/>
                </a:cubicBezTo>
                <a:lnTo>
                  <a:pt x="0" y="38148"/>
                </a:lnTo>
                <a:cubicBezTo>
                  <a:pt x="0" y="28031"/>
                  <a:pt x="4019" y="18328"/>
                  <a:pt x="11173" y="11173"/>
                </a:cubicBezTo>
                <a:cubicBezTo>
                  <a:pt x="18328" y="4019"/>
                  <a:pt x="28031" y="0"/>
                  <a:pt x="38148" y="0"/>
                </a:cubicBezTo>
                <a:close/>
              </a:path>
            </a:pathLst>
          </a:custGeom>
          <a:blipFill rotWithShape="1">
            <a:blip r:embed="rId5">
              <a:alphaModFix/>
            </a:blip>
            <a:stretch>
              <a:fillRect b="0" l="-3377" r="-337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4"/>
          <p:cNvSpPr/>
          <p:nvPr/>
        </p:nvSpPr>
        <p:spPr>
          <a:xfrm>
            <a:off x="12976942" y="-333413"/>
            <a:ext cx="6516105" cy="11711954"/>
          </a:xfrm>
          <a:custGeom>
            <a:rect b="b" l="l" r="r" t="t"/>
            <a:pathLst>
              <a:path extrusionOk="0" h="11711954" w="6516105">
                <a:moveTo>
                  <a:pt x="0" y="0"/>
                </a:moveTo>
                <a:lnTo>
                  <a:pt x="6516105" y="0"/>
                </a:lnTo>
                <a:lnTo>
                  <a:pt x="6516105" y="11711954"/>
                </a:lnTo>
                <a:lnTo>
                  <a:pt x="0" y="11711954"/>
                </a:lnTo>
                <a:lnTo>
                  <a:pt x="0" y="0"/>
                </a:lnTo>
                <a:close/>
              </a:path>
            </a:pathLst>
          </a:custGeom>
          <a:blipFill rotWithShape="1">
            <a:blip r:embed="rId4">
              <a:alphaModFix/>
            </a:blip>
            <a:stretch>
              <a:fillRect b="0" l="0" r="0" t="0"/>
            </a:stretch>
          </a:blipFill>
          <a:ln>
            <a:noFill/>
          </a:ln>
        </p:spPr>
      </p:sp>
      <p:sp>
        <p:nvSpPr>
          <p:cNvPr id="119" name="Google Shape;119;p4"/>
          <p:cNvSpPr/>
          <p:nvPr/>
        </p:nvSpPr>
        <p:spPr>
          <a:xfrm>
            <a:off x="3396141" y="6766828"/>
            <a:ext cx="4667675" cy="2491472"/>
          </a:xfrm>
          <a:custGeom>
            <a:rect b="b" l="l" r="r" t="t"/>
            <a:pathLst>
              <a:path extrusionOk="0" h="385994" w="723145">
                <a:moveTo>
                  <a:pt x="38148" y="0"/>
                </a:moveTo>
                <a:lnTo>
                  <a:pt x="684997" y="0"/>
                </a:lnTo>
                <a:cubicBezTo>
                  <a:pt x="695114" y="0"/>
                  <a:pt x="704817" y="4019"/>
                  <a:pt x="711972" y="11173"/>
                </a:cubicBezTo>
                <a:cubicBezTo>
                  <a:pt x="719126" y="18328"/>
                  <a:pt x="723145" y="28031"/>
                  <a:pt x="723145" y="38148"/>
                </a:cubicBezTo>
                <a:lnTo>
                  <a:pt x="723145" y="347846"/>
                </a:lnTo>
                <a:cubicBezTo>
                  <a:pt x="723145" y="357963"/>
                  <a:pt x="719126" y="367667"/>
                  <a:pt x="711972" y="374821"/>
                </a:cubicBezTo>
                <a:cubicBezTo>
                  <a:pt x="704817" y="381975"/>
                  <a:pt x="695114" y="385994"/>
                  <a:pt x="684997" y="385994"/>
                </a:cubicBezTo>
                <a:lnTo>
                  <a:pt x="38148" y="385994"/>
                </a:lnTo>
                <a:cubicBezTo>
                  <a:pt x="28031" y="385994"/>
                  <a:pt x="18328" y="381975"/>
                  <a:pt x="11173" y="374821"/>
                </a:cubicBezTo>
                <a:cubicBezTo>
                  <a:pt x="4019" y="367667"/>
                  <a:pt x="0" y="357963"/>
                  <a:pt x="0" y="347846"/>
                </a:cubicBezTo>
                <a:lnTo>
                  <a:pt x="0" y="38148"/>
                </a:lnTo>
                <a:cubicBezTo>
                  <a:pt x="0" y="28031"/>
                  <a:pt x="4019" y="18328"/>
                  <a:pt x="11173" y="11173"/>
                </a:cubicBezTo>
                <a:cubicBezTo>
                  <a:pt x="18328" y="4019"/>
                  <a:pt x="28031" y="0"/>
                  <a:pt x="38148" y="0"/>
                </a:cubicBezTo>
                <a:close/>
              </a:path>
            </a:pathLst>
          </a:custGeom>
          <a:blipFill rotWithShape="1">
            <a:blip r:embed="rId6">
              <a:alphaModFix/>
            </a:blip>
            <a:stretch>
              <a:fillRect b="0" l="-23740" r="-2374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4"/>
          <p:cNvSpPr txBox="1"/>
          <p:nvPr/>
        </p:nvSpPr>
        <p:spPr>
          <a:xfrm>
            <a:off x="3396141" y="2995179"/>
            <a:ext cx="10000564" cy="2861626"/>
          </a:xfrm>
          <a:prstGeom prst="rect">
            <a:avLst/>
          </a:prstGeom>
          <a:noFill/>
          <a:ln>
            <a:noFill/>
          </a:ln>
        </p:spPr>
        <p:txBody>
          <a:bodyPr anchorCtr="0" anchor="t" bIns="0" lIns="0" spcFirstLastPara="1" rIns="0" wrap="square" tIns="0">
            <a:spAutoFit/>
          </a:bodyPr>
          <a:lstStyle/>
          <a:p>
            <a:pPr indent="0" lvl="0" marL="0" marR="0" rtl="0" algn="just">
              <a:lnSpc>
                <a:spcPct val="140042"/>
              </a:lnSpc>
              <a:spcBef>
                <a:spcPts val="0"/>
              </a:spcBef>
              <a:spcAft>
                <a:spcPts val="0"/>
              </a:spcAft>
              <a:buNone/>
            </a:pPr>
            <a:r>
              <a:rPr b="0" i="0" lang="en-US" sz="2350" u="none" cap="none" strike="noStrike">
                <a:solidFill>
                  <a:srgbClr val="FAF6F0"/>
                </a:solidFill>
                <a:latin typeface="Belleza"/>
                <a:ea typeface="Belleza"/>
                <a:cs typeface="Belleza"/>
                <a:sym typeface="Belleza"/>
              </a:rPr>
              <a:t>El proyecto Nay Eventos Web (NEW) propone desarrollar una plataforma digital para mejorar la organización y gestión de la empresa Nay Eventos. Actualmente, la empresa enfrenta problemas por el manejo manual de información, lo que genera desorden y retrasos. La solución busca optimizar el control de inventarios, clientes y ventas en un solo sistema, permitiendo procesos más eficientes, mejor atención al cliente y mayor competitividad en el mercado.</a:t>
            </a:r>
            <a:endParaRPr/>
          </a:p>
          <a:p>
            <a:pPr indent="0" lvl="0" marL="0" marR="0" rtl="0" algn="just">
              <a:lnSpc>
                <a:spcPct val="140042"/>
              </a:lnSpc>
              <a:spcBef>
                <a:spcPts val="0"/>
              </a:spcBef>
              <a:spcAft>
                <a:spcPts val="0"/>
              </a:spcAft>
              <a:buNone/>
            </a:pPr>
            <a:r>
              <a:t/>
            </a:r>
            <a:endParaRPr b="0" i="0" sz="2350" u="none" cap="none" strike="noStrike">
              <a:solidFill>
                <a:srgbClr val="FAF6F0"/>
              </a:solidFill>
              <a:latin typeface="Belleza"/>
              <a:ea typeface="Belleza"/>
              <a:cs typeface="Belleza"/>
              <a:sym typeface="Belleza"/>
            </a:endParaRPr>
          </a:p>
        </p:txBody>
      </p:sp>
      <p:sp>
        <p:nvSpPr>
          <p:cNvPr id="121" name="Google Shape;121;p4"/>
          <p:cNvSpPr txBox="1"/>
          <p:nvPr/>
        </p:nvSpPr>
        <p:spPr>
          <a:xfrm>
            <a:off x="3396141" y="2275823"/>
            <a:ext cx="11495718" cy="552449"/>
          </a:xfrm>
          <a:prstGeom prst="rect">
            <a:avLst/>
          </a:prstGeom>
          <a:noFill/>
          <a:ln>
            <a:noFill/>
          </a:ln>
        </p:spPr>
        <p:txBody>
          <a:bodyPr anchorCtr="0" anchor="t" bIns="0" lIns="0" spcFirstLastPara="1" rIns="0" wrap="square" tIns="0">
            <a:spAutoFit/>
          </a:bodyPr>
          <a:lstStyle/>
          <a:p>
            <a:pPr indent="0" lvl="0" marL="0" marR="0" rtl="0" algn="l">
              <a:lnSpc>
                <a:spcPct val="89997"/>
              </a:lnSpc>
              <a:spcBef>
                <a:spcPts val="0"/>
              </a:spcBef>
              <a:spcAft>
                <a:spcPts val="0"/>
              </a:spcAft>
              <a:buNone/>
            </a:pPr>
            <a:r>
              <a:rPr b="0" i="0" lang="en-US" sz="4499" u="none" cap="none" strike="noStrike">
                <a:solidFill>
                  <a:srgbClr val="DBC096"/>
                </a:solidFill>
                <a:latin typeface="Arial"/>
                <a:ea typeface="Arial"/>
                <a:cs typeface="Arial"/>
                <a:sym typeface="Arial"/>
              </a:rPr>
              <a:t>Introducción</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5"/>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9222" l="0" r="0" t="-9222"/>
            </a:stretch>
          </a:blipFill>
          <a:ln>
            <a:noFill/>
          </a:ln>
        </p:spPr>
      </p:sp>
      <p:sp>
        <p:nvSpPr>
          <p:cNvPr id="127" name="Google Shape;127;p5"/>
          <p:cNvSpPr/>
          <p:nvPr/>
        </p:nvSpPr>
        <p:spPr>
          <a:xfrm>
            <a:off x="-8678012" y="-391539"/>
            <a:ext cx="11028565" cy="11070078"/>
          </a:xfrm>
          <a:custGeom>
            <a:rect b="b" l="l" r="r" t="t"/>
            <a:pathLst>
              <a:path extrusionOk="0" h="11070078" w="11028565">
                <a:moveTo>
                  <a:pt x="0" y="0"/>
                </a:moveTo>
                <a:lnTo>
                  <a:pt x="11028565" y="0"/>
                </a:lnTo>
                <a:lnTo>
                  <a:pt x="11028565" y="11070078"/>
                </a:lnTo>
                <a:lnTo>
                  <a:pt x="0" y="11070078"/>
                </a:lnTo>
                <a:lnTo>
                  <a:pt x="0" y="0"/>
                </a:lnTo>
                <a:close/>
              </a:path>
            </a:pathLst>
          </a:custGeom>
          <a:blipFill rotWithShape="1">
            <a:blip r:embed="rId4">
              <a:alphaModFix/>
            </a:blip>
            <a:stretch>
              <a:fillRect b="0" l="0" r="0" t="0"/>
            </a:stretch>
          </a:blipFill>
          <a:ln>
            <a:noFill/>
          </a:ln>
        </p:spPr>
      </p:sp>
      <p:sp>
        <p:nvSpPr>
          <p:cNvPr id="128" name="Google Shape;128;p5"/>
          <p:cNvSpPr/>
          <p:nvPr/>
        </p:nvSpPr>
        <p:spPr>
          <a:xfrm flipH="1">
            <a:off x="15937447" y="-391539"/>
            <a:ext cx="11028565" cy="11070078"/>
          </a:xfrm>
          <a:custGeom>
            <a:rect b="b" l="l" r="r" t="t"/>
            <a:pathLst>
              <a:path extrusionOk="0" h="11070078" w="11028565">
                <a:moveTo>
                  <a:pt x="11028565" y="0"/>
                </a:moveTo>
                <a:lnTo>
                  <a:pt x="0" y="0"/>
                </a:lnTo>
                <a:lnTo>
                  <a:pt x="0" y="11070078"/>
                </a:lnTo>
                <a:lnTo>
                  <a:pt x="11028565" y="11070078"/>
                </a:lnTo>
                <a:lnTo>
                  <a:pt x="11028565" y="0"/>
                </a:lnTo>
                <a:close/>
              </a:path>
            </a:pathLst>
          </a:custGeom>
          <a:blipFill rotWithShape="1">
            <a:blip r:embed="rId4">
              <a:alphaModFix/>
            </a:blip>
            <a:stretch>
              <a:fillRect b="0" l="0" r="0" t="0"/>
            </a:stretch>
          </a:blipFill>
          <a:ln>
            <a:noFill/>
          </a:ln>
        </p:spPr>
      </p:sp>
      <p:sp>
        <p:nvSpPr>
          <p:cNvPr id="129" name="Google Shape;129;p5"/>
          <p:cNvSpPr/>
          <p:nvPr/>
        </p:nvSpPr>
        <p:spPr>
          <a:xfrm>
            <a:off x="7338348" y="5533035"/>
            <a:ext cx="3611305" cy="3392447"/>
          </a:xfrm>
          <a:custGeom>
            <a:rect b="b" l="l" r="r" t="t"/>
            <a:pathLst>
              <a:path extrusionOk="0" h="525579" w="559486">
                <a:moveTo>
                  <a:pt x="49307" y="0"/>
                </a:moveTo>
                <a:lnTo>
                  <a:pt x="510178" y="0"/>
                </a:lnTo>
                <a:cubicBezTo>
                  <a:pt x="523255" y="0"/>
                  <a:pt x="535797" y="5195"/>
                  <a:pt x="545044" y="14442"/>
                </a:cubicBezTo>
                <a:cubicBezTo>
                  <a:pt x="554291" y="23689"/>
                  <a:pt x="559486" y="36230"/>
                  <a:pt x="559486" y="49307"/>
                </a:cubicBezTo>
                <a:lnTo>
                  <a:pt x="559486" y="476271"/>
                </a:lnTo>
                <a:cubicBezTo>
                  <a:pt x="559486" y="489348"/>
                  <a:pt x="554291" y="501890"/>
                  <a:pt x="545044" y="511137"/>
                </a:cubicBezTo>
                <a:cubicBezTo>
                  <a:pt x="535797" y="520384"/>
                  <a:pt x="523255" y="525579"/>
                  <a:pt x="510178" y="525579"/>
                </a:cubicBezTo>
                <a:lnTo>
                  <a:pt x="49307" y="525579"/>
                </a:lnTo>
                <a:cubicBezTo>
                  <a:pt x="36230" y="525579"/>
                  <a:pt x="23689" y="520384"/>
                  <a:pt x="14442" y="511137"/>
                </a:cubicBezTo>
                <a:cubicBezTo>
                  <a:pt x="5195" y="501890"/>
                  <a:pt x="0" y="489348"/>
                  <a:pt x="0" y="476271"/>
                </a:cubicBezTo>
                <a:lnTo>
                  <a:pt x="0" y="49307"/>
                </a:lnTo>
                <a:cubicBezTo>
                  <a:pt x="0" y="36230"/>
                  <a:pt x="5195" y="23689"/>
                  <a:pt x="14442" y="14442"/>
                </a:cubicBezTo>
                <a:cubicBezTo>
                  <a:pt x="23689" y="5195"/>
                  <a:pt x="36230" y="0"/>
                  <a:pt x="49307" y="0"/>
                </a:cubicBezTo>
                <a:close/>
              </a:path>
            </a:pathLst>
          </a:custGeom>
          <a:blipFill rotWithShape="1">
            <a:blip r:embed="rId5">
              <a:alphaModFix/>
            </a:blip>
            <a:stretch>
              <a:fillRect b="-496" l="0" r="0" t="-496"/>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txBox="1"/>
          <p:nvPr/>
        </p:nvSpPr>
        <p:spPr>
          <a:xfrm>
            <a:off x="3946842" y="2650563"/>
            <a:ext cx="10879885" cy="2501472"/>
          </a:xfrm>
          <a:prstGeom prst="rect">
            <a:avLst/>
          </a:prstGeom>
          <a:noFill/>
          <a:ln>
            <a:noFill/>
          </a:ln>
        </p:spPr>
        <p:txBody>
          <a:bodyPr anchorCtr="0" anchor="t" bIns="0" lIns="0" spcFirstLastPara="1" rIns="0" wrap="square" tIns="0">
            <a:spAutoFit/>
          </a:bodyPr>
          <a:lstStyle/>
          <a:p>
            <a:pPr indent="0" lvl="0" marL="0" marR="0" rtl="0" algn="just">
              <a:lnSpc>
                <a:spcPct val="140025"/>
              </a:lnSpc>
              <a:spcBef>
                <a:spcPts val="0"/>
              </a:spcBef>
              <a:spcAft>
                <a:spcPts val="0"/>
              </a:spcAft>
              <a:buNone/>
            </a:pPr>
            <a:r>
              <a:rPr b="0" i="0" lang="en-US" sz="2391" u="none" cap="none" strike="noStrike">
                <a:solidFill>
                  <a:srgbClr val="FAF6F0"/>
                </a:solidFill>
                <a:latin typeface="Belleza"/>
                <a:ea typeface="Belleza"/>
                <a:cs typeface="Belleza"/>
                <a:sym typeface="Belleza"/>
              </a:rPr>
              <a:t>La empresa Nay Eventos presenta dificultades por el uso limitado de tecnología, lo que afecta la gestión de inventario, clientes y ventas. Sus procesos son desordenados al depender de métodos manuales y redes sociales. Como solución, se propone crear un sitio web que centralice la información, mejore la organización, optimice los procesos y permita ofrecer un mejor servicio, aumentando su competitividad.</a:t>
            </a:r>
            <a:endParaRPr/>
          </a:p>
          <a:p>
            <a:pPr indent="0" lvl="0" marL="0" marR="0" rtl="0" algn="just">
              <a:lnSpc>
                <a:spcPct val="140025"/>
              </a:lnSpc>
              <a:spcBef>
                <a:spcPts val="0"/>
              </a:spcBef>
              <a:spcAft>
                <a:spcPts val="0"/>
              </a:spcAft>
              <a:buNone/>
            </a:pPr>
            <a:r>
              <a:t/>
            </a:r>
            <a:endParaRPr b="0" i="0" sz="2391" u="none" cap="none" strike="noStrike">
              <a:solidFill>
                <a:srgbClr val="FAF6F0"/>
              </a:solidFill>
              <a:latin typeface="Belleza"/>
              <a:ea typeface="Belleza"/>
              <a:cs typeface="Belleza"/>
              <a:sym typeface="Belleza"/>
            </a:endParaRPr>
          </a:p>
        </p:txBody>
      </p:sp>
      <p:sp>
        <p:nvSpPr>
          <p:cNvPr id="131" name="Google Shape;131;p5"/>
          <p:cNvSpPr txBox="1"/>
          <p:nvPr/>
        </p:nvSpPr>
        <p:spPr>
          <a:xfrm>
            <a:off x="3946842" y="1764739"/>
            <a:ext cx="11365455" cy="552449"/>
          </a:xfrm>
          <a:prstGeom prst="rect">
            <a:avLst/>
          </a:prstGeom>
          <a:noFill/>
          <a:ln>
            <a:noFill/>
          </a:ln>
        </p:spPr>
        <p:txBody>
          <a:bodyPr anchorCtr="0" anchor="t" bIns="0" lIns="0" spcFirstLastPara="1" rIns="0" wrap="square" tIns="0">
            <a:spAutoFit/>
          </a:bodyPr>
          <a:lstStyle/>
          <a:p>
            <a:pPr indent="0" lvl="0" marL="0" marR="0" rtl="0" algn="l">
              <a:lnSpc>
                <a:spcPct val="89997"/>
              </a:lnSpc>
              <a:spcBef>
                <a:spcPts val="0"/>
              </a:spcBef>
              <a:spcAft>
                <a:spcPts val="0"/>
              </a:spcAft>
              <a:buNone/>
            </a:pPr>
            <a:r>
              <a:rPr b="0" i="0" lang="en-US" sz="4499" u="none" cap="none" strike="noStrike">
                <a:solidFill>
                  <a:srgbClr val="DBC096"/>
                </a:solidFill>
                <a:latin typeface="Arial"/>
                <a:ea typeface="Arial"/>
                <a:cs typeface="Arial"/>
                <a:sym typeface="Arial"/>
              </a:rPr>
              <a:t>Planteamiento del Problema</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6"/>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0" l="-8197" r="-32013" t="-66072"/>
            </a:stretch>
          </a:blipFill>
          <a:ln>
            <a:noFill/>
          </a:ln>
        </p:spPr>
      </p:sp>
      <p:sp>
        <p:nvSpPr>
          <p:cNvPr id="137" name="Google Shape;137;p6"/>
          <p:cNvSpPr/>
          <p:nvPr/>
        </p:nvSpPr>
        <p:spPr>
          <a:xfrm>
            <a:off x="-2750950" y="0"/>
            <a:ext cx="10802633" cy="12019619"/>
          </a:xfrm>
          <a:custGeom>
            <a:rect b="b" l="l" r="r" t="t"/>
            <a:pathLst>
              <a:path extrusionOk="0" h="12019619" w="10802633">
                <a:moveTo>
                  <a:pt x="0" y="0"/>
                </a:moveTo>
                <a:lnTo>
                  <a:pt x="10802632" y="0"/>
                </a:lnTo>
                <a:lnTo>
                  <a:pt x="10802632" y="12019619"/>
                </a:lnTo>
                <a:lnTo>
                  <a:pt x="0" y="12019619"/>
                </a:lnTo>
                <a:lnTo>
                  <a:pt x="0" y="0"/>
                </a:lnTo>
                <a:close/>
              </a:path>
            </a:pathLst>
          </a:custGeom>
          <a:blipFill rotWithShape="1">
            <a:blip r:embed="rId4">
              <a:alphaModFix/>
            </a:blip>
            <a:stretch>
              <a:fillRect b="0" l="0" r="0" t="0"/>
            </a:stretch>
          </a:blipFill>
          <a:ln>
            <a:noFill/>
          </a:ln>
        </p:spPr>
      </p:sp>
      <p:sp>
        <p:nvSpPr>
          <p:cNvPr id="138" name="Google Shape;138;p6"/>
          <p:cNvSpPr/>
          <p:nvPr/>
        </p:nvSpPr>
        <p:spPr>
          <a:xfrm rot="10800000">
            <a:off x="10655542" y="-540604"/>
            <a:ext cx="10440161" cy="11616312"/>
          </a:xfrm>
          <a:custGeom>
            <a:rect b="b" l="l" r="r" t="t"/>
            <a:pathLst>
              <a:path extrusionOk="0" h="11616312" w="10440161">
                <a:moveTo>
                  <a:pt x="0" y="0"/>
                </a:moveTo>
                <a:lnTo>
                  <a:pt x="10440161" y="0"/>
                </a:lnTo>
                <a:lnTo>
                  <a:pt x="10440161" y="11616312"/>
                </a:lnTo>
                <a:lnTo>
                  <a:pt x="0" y="11616312"/>
                </a:lnTo>
                <a:lnTo>
                  <a:pt x="0" y="0"/>
                </a:lnTo>
                <a:close/>
              </a:path>
            </a:pathLst>
          </a:custGeom>
          <a:blipFill rotWithShape="1">
            <a:blip r:embed="rId4">
              <a:alphaModFix/>
            </a:blip>
            <a:stretch>
              <a:fillRect b="0" l="0" r="0" t="0"/>
            </a:stretch>
          </a:blipFill>
          <a:ln>
            <a:noFill/>
          </a:ln>
        </p:spPr>
      </p:sp>
      <p:sp>
        <p:nvSpPr>
          <p:cNvPr id="139" name="Google Shape;139;p6"/>
          <p:cNvSpPr txBox="1"/>
          <p:nvPr/>
        </p:nvSpPr>
        <p:spPr>
          <a:xfrm>
            <a:off x="3104359" y="2746019"/>
            <a:ext cx="11724557" cy="2161539"/>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0" i="0" lang="en-US" sz="5599" u="none" cap="none" strike="noStrike">
                <a:solidFill>
                  <a:srgbClr val="DBC096"/>
                </a:solidFill>
                <a:latin typeface="Arial"/>
                <a:ea typeface="Arial"/>
                <a:cs typeface="Arial"/>
                <a:sym typeface="Arial"/>
              </a:rPr>
              <a:t>Pregunta Problema</a:t>
            </a:r>
            <a:endParaRPr/>
          </a:p>
          <a:p>
            <a:pPr indent="0" lvl="0" marL="0" marR="0" rtl="0" algn="ctr">
              <a:lnSpc>
                <a:spcPct val="100000"/>
              </a:lnSpc>
              <a:spcBef>
                <a:spcPts val="0"/>
              </a:spcBef>
              <a:spcAft>
                <a:spcPts val="0"/>
              </a:spcAft>
              <a:buNone/>
            </a:pPr>
            <a:r>
              <a:t/>
            </a:r>
            <a:endParaRPr b="0" i="0" sz="5599" u="none" cap="none" strike="noStrike">
              <a:solidFill>
                <a:srgbClr val="DBC096"/>
              </a:solidFill>
              <a:latin typeface="Arial"/>
              <a:ea typeface="Arial"/>
              <a:cs typeface="Arial"/>
              <a:sym typeface="Arial"/>
            </a:endParaRPr>
          </a:p>
          <a:p>
            <a:pPr indent="0" lvl="0" marL="0" marR="0" rtl="0" algn="ctr">
              <a:lnSpc>
                <a:spcPct val="100000"/>
              </a:lnSpc>
              <a:spcBef>
                <a:spcPts val="0"/>
              </a:spcBef>
              <a:spcAft>
                <a:spcPts val="0"/>
              </a:spcAft>
              <a:buNone/>
            </a:pPr>
            <a:r>
              <a:t/>
            </a:r>
            <a:endParaRPr b="0" i="0" sz="5599" u="none" cap="none" strike="noStrike">
              <a:solidFill>
                <a:srgbClr val="DBC096"/>
              </a:solidFill>
              <a:latin typeface="Arial"/>
              <a:ea typeface="Arial"/>
              <a:cs typeface="Arial"/>
              <a:sym typeface="Arial"/>
            </a:endParaRPr>
          </a:p>
        </p:txBody>
      </p:sp>
      <p:sp>
        <p:nvSpPr>
          <p:cNvPr id="140" name="Google Shape;140;p6"/>
          <p:cNvSpPr txBox="1"/>
          <p:nvPr/>
        </p:nvSpPr>
        <p:spPr>
          <a:xfrm>
            <a:off x="3281721" y="4139558"/>
            <a:ext cx="11724557" cy="3924300"/>
          </a:xfrm>
          <a:prstGeom prst="rect">
            <a:avLst/>
          </a:prstGeom>
          <a:noFill/>
          <a:ln>
            <a:noFill/>
          </a:ln>
        </p:spPr>
        <p:txBody>
          <a:bodyPr anchorCtr="0" anchor="t" bIns="0" lIns="0" spcFirstLastPara="1" rIns="0" wrap="square" tIns="0">
            <a:spAutoFit/>
          </a:bodyPr>
          <a:lstStyle/>
          <a:p>
            <a:pPr indent="0" lvl="0" marL="0" marR="0" rtl="0" algn="ctr">
              <a:lnSpc>
                <a:spcPct val="140008"/>
              </a:lnSpc>
              <a:spcBef>
                <a:spcPts val="0"/>
              </a:spcBef>
              <a:spcAft>
                <a:spcPts val="0"/>
              </a:spcAft>
              <a:buNone/>
            </a:pPr>
            <a:r>
              <a:rPr b="0" i="0" lang="en-US" sz="4499" u="none" cap="none" strike="noStrike">
                <a:solidFill>
                  <a:srgbClr val="DBC096"/>
                </a:solidFill>
                <a:latin typeface="Arial"/>
                <a:ea typeface="Arial"/>
                <a:cs typeface="Arial"/>
                <a:sym typeface="Arial"/>
              </a:rPr>
              <a:t>¿Por qué es necesario crear un sitio web para mejorar la organización, el control de equipos y la atención a los clientes en un negocio de alquiler de equipos para eventos?</a:t>
            </a:r>
            <a:endParaRPr/>
          </a:p>
          <a:p>
            <a:pPr indent="0" lvl="0" marL="0" marR="0" rtl="0" algn="ctr">
              <a:lnSpc>
                <a:spcPct val="140008"/>
              </a:lnSpc>
              <a:spcBef>
                <a:spcPts val="0"/>
              </a:spcBef>
              <a:spcAft>
                <a:spcPts val="0"/>
              </a:spcAft>
              <a:buNone/>
            </a:pPr>
            <a:r>
              <a:t/>
            </a:r>
            <a:endParaRPr b="0" i="0" sz="4499" u="none" cap="none" strike="noStrike">
              <a:solidFill>
                <a:srgbClr val="DBC096"/>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7"/>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9222" l="0" r="0" t="-9222"/>
            </a:stretch>
          </a:blipFill>
          <a:ln>
            <a:noFill/>
          </a:ln>
        </p:spPr>
      </p:sp>
      <p:sp>
        <p:nvSpPr>
          <p:cNvPr id="146" name="Google Shape;146;p7"/>
          <p:cNvSpPr/>
          <p:nvPr/>
        </p:nvSpPr>
        <p:spPr>
          <a:xfrm flipH="1">
            <a:off x="-3793599" y="-650804"/>
            <a:ext cx="6447480" cy="11588609"/>
          </a:xfrm>
          <a:custGeom>
            <a:rect b="b" l="l" r="r" t="t"/>
            <a:pathLst>
              <a:path extrusionOk="0" h="11588609" w="6447480">
                <a:moveTo>
                  <a:pt x="6447481" y="0"/>
                </a:moveTo>
                <a:lnTo>
                  <a:pt x="0" y="0"/>
                </a:lnTo>
                <a:lnTo>
                  <a:pt x="0" y="11588608"/>
                </a:lnTo>
                <a:lnTo>
                  <a:pt x="6447481" y="11588608"/>
                </a:lnTo>
                <a:lnTo>
                  <a:pt x="6447481" y="0"/>
                </a:lnTo>
                <a:close/>
              </a:path>
            </a:pathLst>
          </a:custGeom>
          <a:blipFill rotWithShape="1">
            <a:blip r:embed="rId4">
              <a:alphaModFix/>
            </a:blip>
            <a:stretch>
              <a:fillRect b="0" l="0" r="0" t="0"/>
            </a:stretch>
          </a:blipFill>
          <a:ln>
            <a:noFill/>
          </a:ln>
        </p:spPr>
      </p:sp>
      <p:sp>
        <p:nvSpPr>
          <p:cNvPr id="147" name="Google Shape;147;p7"/>
          <p:cNvSpPr/>
          <p:nvPr/>
        </p:nvSpPr>
        <p:spPr>
          <a:xfrm>
            <a:off x="10185942" y="1891184"/>
            <a:ext cx="7073358" cy="6504632"/>
          </a:xfrm>
          <a:custGeom>
            <a:rect b="b" l="l" r="r" t="t"/>
            <a:pathLst>
              <a:path extrusionOk="0" h="1274980" w="1386457">
                <a:moveTo>
                  <a:pt x="25174" y="0"/>
                </a:moveTo>
                <a:lnTo>
                  <a:pt x="1361283" y="0"/>
                </a:lnTo>
                <a:cubicBezTo>
                  <a:pt x="1375186" y="0"/>
                  <a:pt x="1386457" y="11271"/>
                  <a:pt x="1386457" y="25174"/>
                </a:cubicBezTo>
                <a:lnTo>
                  <a:pt x="1386457" y="1249806"/>
                </a:lnTo>
                <a:cubicBezTo>
                  <a:pt x="1386457" y="1263710"/>
                  <a:pt x="1375186" y="1274980"/>
                  <a:pt x="1361283" y="1274980"/>
                </a:cubicBezTo>
                <a:lnTo>
                  <a:pt x="25174" y="1274980"/>
                </a:lnTo>
                <a:cubicBezTo>
                  <a:pt x="11271" y="1274980"/>
                  <a:pt x="0" y="1263710"/>
                  <a:pt x="0" y="1249806"/>
                </a:cubicBezTo>
                <a:lnTo>
                  <a:pt x="0" y="25174"/>
                </a:lnTo>
                <a:cubicBezTo>
                  <a:pt x="0" y="11271"/>
                  <a:pt x="11271" y="0"/>
                  <a:pt x="25174" y="0"/>
                </a:cubicBezTo>
                <a:close/>
              </a:path>
            </a:pathLst>
          </a:custGeom>
          <a:blipFill rotWithShape="1">
            <a:blip r:embed="rId5">
              <a:alphaModFix/>
            </a:blip>
            <a:stretch>
              <a:fillRect b="-4371" l="0" r="0" t="-4371"/>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p:nvPr/>
        </p:nvSpPr>
        <p:spPr>
          <a:xfrm>
            <a:off x="16028297" y="-198430"/>
            <a:ext cx="6447480" cy="11588609"/>
          </a:xfrm>
          <a:custGeom>
            <a:rect b="b" l="l" r="r" t="t"/>
            <a:pathLst>
              <a:path extrusionOk="0" h="11588609" w="6447480">
                <a:moveTo>
                  <a:pt x="0" y="0"/>
                </a:moveTo>
                <a:lnTo>
                  <a:pt x="6447481" y="0"/>
                </a:lnTo>
                <a:lnTo>
                  <a:pt x="6447481" y="11588609"/>
                </a:lnTo>
                <a:lnTo>
                  <a:pt x="0" y="11588609"/>
                </a:lnTo>
                <a:lnTo>
                  <a:pt x="0" y="0"/>
                </a:lnTo>
                <a:close/>
              </a:path>
            </a:pathLst>
          </a:custGeom>
          <a:blipFill rotWithShape="1">
            <a:blip r:embed="rId4">
              <a:alphaModFix/>
            </a:blip>
            <a:stretch>
              <a:fillRect b="0" l="0" r="0" t="0"/>
            </a:stretch>
          </a:blipFill>
          <a:ln>
            <a:noFill/>
          </a:ln>
        </p:spPr>
      </p:sp>
      <p:sp>
        <p:nvSpPr>
          <p:cNvPr id="149" name="Google Shape;149;p7"/>
          <p:cNvSpPr txBox="1"/>
          <p:nvPr/>
        </p:nvSpPr>
        <p:spPr>
          <a:xfrm>
            <a:off x="2173311" y="1826274"/>
            <a:ext cx="7296454" cy="672464"/>
          </a:xfrm>
          <a:prstGeom prst="rect">
            <a:avLst/>
          </a:prstGeom>
          <a:noFill/>
          <a:ln>
            <a:noFill/>
          </a:ln>
        </p:spPr>
        <p:txBody>
          <a:bodyPr anchorCtr="0" anchor="t" bIns="0" lIns="0" spcFirstLastPara="1" rIns="0" wrap="square" tIns="0">
            <a:spAutoFit/>
          </a:bodyPr>
          <a:lstStyle/>
          <a:p>
            <a:pPr indent="0" lvl="0" marL="0" marR="0" rtl="0" algn="l">
              <a:lnSpc>
                <a:spcPct val="89998"/>
              </a:lnSpc>
              <a:spcBef>
                <a:spcPts val="0"/>
              </a:spcBef>
              <a:spcAft>
                <a:spcPts val="0"/>
              </a:spcAft>
              <a:buNone/>
            </a:pPr>
            <a:r>
              <a:rPr b="0" i="0" lang="en-US" sz="5399" u="none" cap="none" strike="noStrike">
                <a:solidFill>
                  <a:srgbClr val="DBC096"/>
                </a:solidFill>
                <a:latin typeface="Arial"/>
                <a:ea typeface="Arial"/>
                <a:cs typeface="Arial"/>
                <a:sym typeface="Arial"/>
              </a:rPr>
              <a:t>Justificación</a:t>
            </a:r>
            <a:endParaRPr/>
          </a:p>
        </p:txBody>
      </p:sp>
      <p:sp>
        <p:nvSpPr>
          <p:cNvPr id="150" name="Google Shape;150;p7"/>
          <p:cNvSpPr txBox="1"/>
          <p:nvPr/>
        </p:nvSpPr>
        <p:spPr>
          <a:xfrm>
            <a:off x="2173311" y="2748290"/>
            <a:ext cx="6970689" cy="6280809"/>
          </a:xfrm>
          <a:prstGeom prst="rect">
            <a:avLst/>
          </a:prstGeom>
          <a:noFill/>
          <a:ln>
            <a:noFill/>
          </a:ln>
        </p:spPr>
        <p:txBody>
          <a:bodyPr anchorCtr="0" anchor="t" bIns="0" lIns="0" spcFirstLastPara="1" rIns="0" wrap="square" tIns="0">
            <a:spAutoFit/>
          </a:bodyPr>
          <a:lstStyle/>
          <a:p>
            <a:pPr indent="0" lvl="0" marL="0" marR="0" rtl="0" algn="just">
              <a:lnSpc>
                <a:spcPct val="139981"/>
              </a:lnSpc>
              <a:spcBef>
                <a:spcPts val="0"/>
              </a:spcBef>
              <a:spcAft>
                <a:spcPts val="0"/>
              </a:spcAft>
              <a:buNone/>
            </a:pPr>
            <a:r>
              <a:rPr b="0" i="0" lang="en-US" sz="3224" u="none" cap="none" strike="noStrike">
                <a:solidFill>
                  <a:srgbClr val="FAF6F0"/>
                </a:solidFill>
                <a:latin typeface="Belleza"/>
                <a:ea typeface="Belleza"/>
                <a:cs typeface="Belleza"/>
                <a:sym typeface="Belleza"/>
              </a:rPr>
              <a:t>Crear un sitio web para Nay Eventos permitirá mejorar la organización y gestión de sus actividades, centralizando información de inventario, clientes y ventas. Esto reducirá errores, ahorrará tiempo y facilitará la atención al cliente. Además, ayudará a mostrar mejor sus servicios, atraer más clientes y aumentar su eficiencia, competitividad y rentabilidad.</a:t>
            </a:r>
            <a:endParaRPr/>
          </a:p>
          <a:p>
            <a:pPr indent="0" lvl="0" marL="0" marR="0" rtl="0" algn="just">
              <a:lnSpc>
                <a:spcPct val="139981"/>
              </a:lnSpc>
              <a:spcBef>
                <a:spcPts val="0"/>
              </a:spcBef>
              <a:spcAft>
                <a:spcPts val="0"/>
              </a:spcAft>
              <a:buNone/>
            </a:pPr>
            <a:r>
              <a:t/>
            </a:r>
            <a:endParaRPr b="0" i="0" sz="3224" u="none" cap="none" strike="noStrike">
              <a:solidFill>
                <a:srgbClr val="FAF6F0"/>
              </a:solidFill>
              <a:latin typeface="Belleza"/>
              <a:ea typeface="Belleza"/>
              <a:cs typeface="Belleza"/>
              <a:sym typeface="Belleza"/>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8"/>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9222" l="0" r="0" t="-9222"/>
            </a:stretch>
          </a:blipFill>
          <a:ln>
            <a:noFill/>
          </a:ln>
        </p:spPr>
      </p:sp>
      <p:sp>
        <p:nvSpPr>
          <p:cNvPr id="156" name="Google Shape;156;p8"/>
          <p:cNvSpPr/>
          <p:nvPr/>
        </p:nvSpPr>
        <p:spPr>
          <a:xfrm rot="10800000">
            <a:off x="-305594" y="-650804"/>
            <a:ext cx="6447480" cy="11588609"/>
          </a:xfrm>
          <a:custGeom>
            <a:rect b="b" l="l" r="r" t="t"/>
            <a:pathLst>
              <a:path extrusionOk="0" h="11588609" w="6447480">
                <a:moveTo>
                  <a:pt x="6447480" y="11588608"/>
                </a:moveTo>
                <a:lnTo>
                  <a:pt x="0" y="11588608"/>
                </a:lnTo>
                <a:lnTo>
                  <a:pt x="0" y="0"/>
                </a:lnTo>
                <a:lnTo>
                  <a:pt x="6447480" y="0"/>
                </a:lnTo>
                <a:lnTo>
                  <a:pt x="6447480" y="11588608"/>
                </a:lnTo>
                <a:close/>
              </a:path>
            </a:pathLst>
          </a:custGeom>
          <a:blipFill rotWithShape="1">
            <a:blip r:embed="rId4">
              <a:alphaModFix/>
            </a:blip>
            <a:stretch>
              <a:fillRect b="0" l="0" r="0" t="0"/>
            </a:stretch>
          </a:blipFill>
          <a:ln>
            <a:noFill/>
          </a:ln>
        </p:spPr>
      </p:sp>
      <p:sp>
        <p:nvSpPr>
          <p:cNvPr id="157" name="Google Shape;157;p8"/>
          <p:cNvSpPr/>
          <p:nvPr/>
        </p:nvSpPr>
        <p:spPr>
          <a:xfrm>
            <a:off x="3136455" y="3359539"/>
            <a:ext cx="6371290" cy="3567923"/>
          </a:xfrm>
          <a:custGeom>
            <a:rect b="b" l="l" r="r" t="t"/>
            <a:pathLst>
              <a:path extrusionOk="0" h="3567923" w="6371290">
                <a:moveTo>
                  <a:pt x="0" y="0"/>
                </a:moveTo>
                <a:lnTo>
                  <a:pt x="6371291" y="0"/>
                </a:lnTo>
                <a:lnTo>
                  <a:pt x="6371291" y="3567922"/>
                </a:lnTo>
                <a:lnTo>
                  <a:pt x="0" y="3567922"/>
                </a:lnTo>
                <a:lnTo>
                  <a:pt x="0" y="0"/>
                </a:lnTo>
                <a:close/>
              </a:path>
            </a:pathLst>
          </a:custGeom>
          <a:blipFill rotWithShape="1">
            <a:blip r:embed="rId5">
              <a:alphaModFix/>
            </a:blip>
            <a:stretch>
              <a:fillRect b="0" l="0" r="0" t="0"/>
            </a:stretch>
          </a:blipFill>
          <a:ln>
            <a:noFill/>
          </a:ln>
        </p:spPr>
      </p:sp>
      <p:sp>
        <p:nvSpPr>
          <p:cNvPr id="158" name="Google Shape;158;p8"/>
          <p:cNvSpPr txBox="1"/>
          <p:nvPr/>
        </p:nvSpPr>
        <p:spPr>
          <a:xfrm>
            <a:off x="10273231" y="2762046"/>
            <a:ext cx="6148313" cy="5229722"/>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2980" u="none" cap="none" strike="noStrike">
                <a:solidFill>
                  <a:srgbClr val="FAF6F0"/>
                </a:solidFill>
                <a:latin typeface="Belleza"/>
                <a:ea typeface="Belleza"/>
                <a:cs typeface="Belleza"/>
                <a:sym typeface="Belleza"/>
              </a:rPr>
              <a:t>Desarrollar un sistema de información interactivo que permita optimizar la gestión de inventarios, la administración de clientes y el proceso de ventas de Nay Eventos, con el fin de mejorar la eficiencia operativa, fortalecer la comunicación con los usuarios y aumentar la competitividad de la empresa en el mercado de organización y alquiler de equipos para eventos</a:t>
            </a:r>
            <a:endParaRPr/>
          </a:p>
        </p:txBody>
      </p:sp>
      <p:sp>
        <p:nvSpPr>
          <p:cNvPr id="159" name="Google Shape;159;p8"/>
          <p:cNvSpPr txBox="1"/>
          <p:nvPr/>
        </p:nvSpPr>
        <p:spPr>
          <a:xfrm>
            <a:off x="10273231" y="1747611"/>
            <a:ext cx="7296454" cy="615315"/>
          </a:xfrm>
          <a:prstGeom prst="rect">
            <a:avLst/>
          </a:prstGeom>
          <a:noFill/>
          <a:ln>
            <a:noFill/>
          </a:ln>
        </p:spPr>
        <p:txBody>
          <a:bodyPr anchorCtr="0" anchor="t" bIns="0" lIns="0" spcFirstLastPara="1" rIns="0" wrap="square" tIns="0">
            <a:spAutoFit/>
          </a:bodyPr>
          <a:lstStyle/>
          <a:p>
            <a:pPr indent="0" lvl="0" marL="0" marR="0" rtl="0" algn="l">
              <a:lnSpc>
                <a:spcPct val="89997"/>
              </a:lnSpc>
              <a:spcBef>
                <a:spcPts val="0"/>
              </a:spcBef>
              <a:spcAft>
                <a:spcPts val="0"/>
              </a:spcAft>
              <a:buNone/>
            </a:pPr>
            <a:r>
              <a:rPr b="0" i="0" lang="en-US" sz="4899" u="none" cap="none" strike="noStrike">
                <a:solidFill>
                  <a:srgbClr val="DBC096"/>
                </a:solidFill>
                <a:latin typeface="Arial"/>
                <a:ea typeface="Arial"/>
                <a:cs typeface="Arial"/>
                <a:sym typeface="Arial"/>
              </a:rPr>
              <a:t>Objetivo General</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9"/>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9222" l="0" r="0" t="-9222"/>
            </a:stretch>
          </a:blipFill>
          <a:ln>
            <a:noFill/>
          </a:ln>
        </p:spPr>
      </p:sp>
      <p:sp>
        <p:nvSpPr>
          <p:cNvPr id="165" name="Google Shape;165;p9"/>
          <p:cNvSpPr/>
          <p:nvPr/>
        </p:nvSpPr>
        <p:spPr>
          <a:xfrm rot="7888905">
            <a:off x="-6269469" y="-6332652"/>
            <a:ext cx="11019346" cy="12092561"/>
          </a:xfrm>
          <a:custGeom>
            <a:rect b="b" l="l" r="r" t="t"/>
            <a:pathLst>
              <a:path extrusionOk="0" h="12092561" w="11019346">
                <a:moveTo>
                  <a:pt x="0" y="0"/>
                </a:moveTo>
                <a:lnTo>
                  <a:pt x="11019346" y="0"/>
                </a:lnTo>
                <a:lnTo>
                  <a:pt x="11019346" y="12092561"/>
                </a:lnTo>
                <a:lnTo>
                  <a:pt x="0" y="12092561"/>
                </a:lnTo>
                <a:lnTo>
                  <a:pt x="0" y="0"/>
                </a:lnTo>
                <a:close/>
              </a:path>
            </a:pathLst>
          </a:custGeom>
          <a:blipFill rotWithShape="1">
            <a:blip r:embed="rId4">
              <a:alphaModFix/>
            </a:blip>
            <a:stretch>
              <a:fillRect b="0" l="0" r="0" t="0"/>
            </a:stretch>
          </a:blipFill>
          <a:ln>
            <a:noFill/>
          </a:ln>
        </p:spPr>
      </p:sp>
      <p:sp>
        <p:nvSpPr>
          <p:cNvPr id="166" name="Google Shape;166;p9"/>
          <p:cNvSpPr/>
          <p:nvPr/>
        </p:nvSpPr>
        <p:spPr>
          <a:xfrm rot="-913312">
            <a:off x="14762046" y="5239159"/>
            <a:ext cx="7499223" cy="8229600"/>
          </a:xfrm>
          <a:custGeom>
            <a:rect b="b" l="l" r="r" t="t"/>
            <a:pathLst>
              <a:path extrusionOk="0" h="8229600" w="7499223">
                <a:moveTo>
                  <a:pt x="0" y="0"/>
                </a:moveTo>
                <a:lnTo>
                  <a:pt x="7499223" y="0"/>
                </a:lnTo>
                <a:lnTo>
                  <a:pt x="7499223" y="8229600"/>
                </a:lnTo>
                <a:lnTo>
                  <a:pt x="0" y="8229600"/>
                </a:lnTo>
                <a:lnTo>
                  <a:pt x="0" y="0"/>
                </a:lnTo>
                <a:close/>
              </a:path>
            </a:pathLst>
          </a:custGeom>
          <a:blipFill rotWithShape="1">
            <a:blip r:embed="rId5">
              <a:alphaModFix/>
            </a:blip>
            <a:stretch>
              <a:fillRect b="0" l="0" r="0" t="0"/>
            </a:stretch>
          </a:blipFill>
          <a:ln>
            <a:noFill/>
          </a:ln>
        </p:spPr>
      </p:sp>
      <p:sp>
        <p:nvSpPr>
          <p:cNvPr id="167" name="Google Shape;167;p9"/>
          <p:cNvSpPr/>
          <p:nvPr/>
        </p:nvSpPr>
        <p:spPr>
          <a:xfrm>
            <a:off x="1028700" y="4617154"/>
            <a:ext cx="4630348" cy="4630348"/>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6">
              <a:alphaModFix/>
            </a:blip>
            <a:stretch>
              <a:fillRect b="0" l="-22467" r="-56101"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9"/>
          <p:cNvSpPr/>
          <p:nvPr/>
        </p:nvSpPr>
        <p:spPr>
          <a:xfrm>
            <a:off x="12628952" y="1028700"/>
            <a:ext cx="4630348" cy="4630348"/>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9"/>
          <p:cNvSpPr/>
          <p:nvPr/>
        </p:nvSpPr>
        <p:spPr>
          <a:xfrm>
            <a:off x="5550701" y="4591710"/>
            <a:ext cx="6806145" cy="1233614"/>
          </a:xfrm>
          <a:custGeom>
            <a:rect b="b" l="l" r="r" t="t"/>
            <a:pathLst>
              <a:path extrusionOk="0" h="1233614" w="6806145">
                <a:moveTo>
                  <a:pt x="0" y="0"/>
                </a:moveTo>
                <a:lnTo>
                  <a:pt x="6806145" y="0"/>
                </a:lnTo>
                <a:lnTo>
                  <a:pt x="6806145" y="1233614"/>
                </a:lnTo>
                <a:lnTo>
                  <a:pt x="0" y="1233614"/>
                </a:lnTo>
                <a:lnTo>
                  <a:pt x="0" y="0"/>
                </a:lnTo>
                <a:close/>
              </a:path>
            </a:pathLst>
          </a:custGeom>
          <a:blipFill rotWithShape="1">
            <a:blip r:embed="rId8">
              <a:alphaModFix/>
            </a:blip>
            <a:stretch>
              <a:fillRect b="0" l="0" r="0" t="0"/>
            </a:stretch>
          </a:blipFill>
          <a:ln>
            <a:noFill/>
          </a:ln>
        </p:spPr>
      </p:sp>
      <p:sp>
        <p:nvSpPr>
          <p:cNvPr id="170" name="Google Shape;170;p9"/>
          <p:cNvSpPr txBox="1"/>
          <p:nvPr/>
        </p:nvSpPr>
        <p:spPr>
          <a:xfrm>
            <a:off x="6206034" y="2550088"/>
            <a:ext cx="5875932" cy="6170296"/>
          </a:xfrm>
          <a:prstGeom prst="rect">
            <a:avLst/>
          </a:prstGeom>
          <a:noFill/>
          <a:ln>
            <a:noFill/>
          </a:ln>
        </p:spPr>
        <p:txBody>
          <a:bodyPr anchorCtr="0" anchor="t" bIns="0" lIns="0" spcFirstLastPara="1" rIns="0" wrap="square" tIns="0">
            <a:spAutoFit/>
          </a:bodyPr>
          <a:lstStyle/>
          <a:p>
            <a:pPr indent="-291463" lvl="1" marL="582925" marR="0" rtl="0" algn="just">
              <a:lnSpc>
                <a:spcPct val="140014"/>
              </a:lnSpc>
              <a:spcBef>
                <a:spcPts val="0"/>
              </a:spcBef>
              <a:spcAft>
                <a:spcPts val="0"/>
              </a:spcAft>
              <a:buClr>
                <a:srgbClr val="FAF6F0"/>
              </a:buClr>
              <a:buSzPts val="2699"/>
              <a:buFont typeface="Arial"/>
              <a:buChar char="•"/>
            </a:pPr>
            <a:r>
              <a:rPr b="0" i="0" lang="en-US" sz="2699" u="none" cap="none" strike="noStrike">
                <a:solidFill>
                  <a:srgbClr val="FAF6F0"/>
                </a:solidFill>
                <a:latin typeface="Belleza"/>
                <a:ea typeface="Belleza"/>
                <a:cs typeface="Belleza"/>
                <a:sym typeface="Belleza"/>
              </a:rPr>
              <a:t>Diseñar la estructura funcional y técnica de la plataforma con módulos de inventario, servicios y clientes.</a:t>
            </a:r>
            <a:endParaRPr/>
          </a:p>
          <a:p>
            <a:pPr indent="-291463" lvl="1" marL="582925" marR="0" rtl="0" algn="just">
              <a:lnSpc>
                <a:spcPct val="140014"/>
              </a:lnSpc>
              <a:spcBef>
                <a:spcPts val="0"/>
              </a:spcBef>
              <a:spcAft>
                <a:spcPts val="0"/>
              </a:spcAft>
              <a:buClr>
                <a:srgbClr val="FAF6F0"/>
              </a:buClr>
              <a:buSzPts val="2699"/>
              <a:buFont typeface="Arial"/>
              <a:buChar char="•"/>
            </a:pPr>
            <a:r>
              <a:rPr b="0" i="0" lang="en-US" sz="2699" u="none" cap="none" strike="noStrike">
                <a:solidFill>
                  <a:srgbClr val="FAF6F0"/>
                </a:solidFill>
                <a:latin typeface="Belleza"/>
                <a:ea typeface="Belleza"/>
                <a:cs typeface="Belleza"/>
                <a:sym typeface="Belleza"/>
              </a:rPr>
              <a:t>Desarrollar un sistema automatizado para controlar y actualizar en tiempo real la disponibilidad.</a:t>
            </a:r>
            <a:endParaRPr/>
          </a:p>
          <a:p>
            <a:pPr indent="-291463" lvl="1" marL="582925" marR="0" rtl="0" algn="just">
              <a:lnSpc>
                <a:spcPct val="140014"/>
              </a:lnSpc>
              <a:spcBef>
                <a:spcPts val="0"/>
              </a:spcBef>
              <a:spcAft>
                <a:spcPts val="0"/>
              </a:spcAft>
              <a:buClr>
                <a:srgbClr val="FAF6F0"/>
              </a:buClr>
              <a:buSzPts val="2699"/>
              <a:buFont typeface="Arial"/>
              <a:buChar char="•"/>
            </a:pPr>
            <a:r>
              <a:rPr b="0" i="0" lang="en-US" sz="2699" u="none" cap="none" strike="noStrike">
                <a:solidFill>
                  <a:srgbClr val="FAF6F0"/>
                </a:solidFill>
                <a:latin typeface="Belleza"/>
                <a:ea typeface="Belleza"/>
                <a:cs typeface="Belleza"/>
                <a:sym typeface="Belleza"/>
              </a:rPr>
              <a:t>Implementar solicitudes y cotizaciones en línea para mejorar la interacción con clientes.</a:t>
            </a:r>
            <a:endParaRPr/>
          </a:p>
          <a:p>
            <a:pPr indent="-291463" lvl="1" marL="582925" marR="0" rtl="0" algn="just">
              <a:lnSpc>
                <a:spcPct val="140014"/>
              </a:lnSpc>
              <a:spcBef>
                <a:spcPts val="0"/>
              </a:spcBef>
              <a:spcAft>
                <a:spcPts val="0"/>
              </a:spcAft>
              <a:buClr>
                <a:srgbClr val="FAF6F0"/>
              </a:buClr>
              <a:buSzPts val="2699"/>
              <a:buFont typeface="Arial"/>
              <a:buChar char="•"/>
            </a:pPr>
            <a:r>
              <a:rPr b="0" i="0" lang="en-US" sz="2699" u="none" cap="none" strike="noStrike">
                <a:solidFill>
                  <a:srgbClr val="FAF6F0"/>
                </a:solidFill>
                <a:latin typeface="Belleza"/>
                <a:ea typeface="Belleza"/>
                <a:cs typeface="Belleza"/>
                <a:sym typeface="Belleza"/>
              </a:rPr>
              <a:t>Evaluar la plataforma mediante pruebas para garantizar su eficiencia, seguridad y buen funcionamiento.</a:t>
            </a:r>
            <a:endParaRPr/>
          </a:p>
          <a:p>
            <a:pPr indent="0" lvl="0" marL="0" marR="0" rtl="0" algn="just">
              <a:lnSpc>
                <a:spcPct val="140014"/>
              </a:lnSpc>
              <a:spcBef>
                <a:spcPts val="0"/>
              </a:spcBef>
              <a:spcAft>
                <a:spcPts val="0"/>
              </a:spcAft>
              <a:buNone/>
            </a:pPr>
            <a:r>
              <a:t/>
            </a:r>
            <a:endParaRPr b="0" i="0" sz="2699" u="none" cap="none" strike="noStrike">
              <a:solidFill>
                <a:srgbClr val="FAF6F0"/>
              </a:solidFill>
              <a:latin typeface="Belleza"/>
              <a:ea typeface="Belleza"/>
              <a:cs typeface="Belleza"/>
              <a:sym typeface="Belleza"/>
            </a:endParaRPr>
          </a:p>
        </p:txBody>
      </p:sp>
      <p:sp>
        <p:nvSpPr>
          <p:cNvPr id="171" name="Google Shape;171;p9"/>
          <p:cNvSpPr txBox="1"/>
          <p:nvPr/>
        </p:nvSpPr>
        <p:spPr>
          <a:xfrm>
            <a:off x="6412957" y="1724225"/>
            <a:ext cx="7620000" cy="611504"/>
          </a:xfrm>
          <a:prstGeom prst="rect">
            <a:avLst/>
          </a:prstGeom>
          <a:noFill/>
          <a:ln>
            <a:noFill/>
          </a:ln>
        </p:spPr>
        <p:txBody>
          <a:bodyPr anchorCtr="0" anchor="t" bIns="0" lIns="0" spcFirstLastPara="1" rIns="0" wrap="square" tIns="0">
            <a:spAutoFit/>
          </a:bodyPr>
          <a:lstStyle/>
          <a:p>
            <a:pPr indent="0" lvl="0" marL="0" marR="0" rtl="0" algn="just">
              <a:lnSpc>
                <a:spcPct val="89997"/>
              </a:lnSpc>
              <a:spcBef>
                <a:spcPts val="0"/>
              </a:spcBef>
              <a:spcAft>
                <a:spcPts val="0"/>
              </a:spcAft>
              <a:buNone/>
            </a:pPr>
            <a:r>
              <a:rPr b="0" i="0" lang="en-US" sz="4799" u="none" cap="none" strike="noStrike">
                <a:solidFill>
                  <a:srgbClr val="DBC096"/>
                </a:solidFill>
                <a:latin typeface="Arial"/>
                <a:ea typeface="Arial"/>
                <a:cs typeface="Arial"/>
                <a:sym typeface="Arial"/>
              </a:rPr>
              <a:t>Objetivos Específicos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10"/>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9222" l="0" r="0" t="-9222"/>
            </a:stretch>
          </a:blipFill>
          <a:ln>
            <a:noFill/>
          </a:ln>
        </p:spPr>
      </p:sp>
      <p:sp>
        <p:nvSpPr>
          <p:cNvPr id="177" name="Google Shape;177;p10"/>
          <p:cNvSpPr/>
          <p:nvPr/>
        </p:nvSpPr>
        <p:spPr>
          <a:xfrm>
            <a:off x="-8678012" y="-391539"/>
            <a:ext cx="11028565" cy="11070078"/>
          </a:xfrm>
          <a:custGeom>
            <a:rect b="b" l="l" r="r" t="t"/>
            <a:pathLst>
              <a:path extrusionOk="0" h="11070078" w="11028565">
                <a:moveTo>
                  <a:pt x="0" y="0"/>
                </a:moveTo>
                <a:lnTo>
                  <a:pt x="11028565" y="0"/>
                </a:lnTo>
                <a:lnTo>
                  <a:pt x="11028565" y="11070078"/>
                </a:lnTo>
                <a:lnTo>
                  <a:pt x="0" y="11070078"/>
                </a:lnTo>
                <a:lnTo>
                  <a:pt x="0" y="0"/>
                </a:lnTo>
                <a:close/>
              </a:path>
            </a:pathLst>
          </a:custGeom>
          <a:blipFill rotWithShape="1">
            <a:blip r:embed="rId4">
              <a:alphaModFix/>
            </a:blip>
            <a:stretch>
              <a:fillRect b="0" l="0" r="0" t="0"/>
            </a:stretch>
          </a:blipFill>
          <a:ln>
            <a:noFill/>
          </a:ln>
        </p:spPr>
      </p:sp>
      <p:sp>
        <p:nvSpPr>
          <p:cNvPr id="178" name="Google Shape;178;p10"/>
          <p:cNvSpPr/>
          <p:nvPr/>
        </p:nvSpPr>
        <p:spPr>
          <a:xfrm flipH="1">
            <a:off x="15937447" y="-391539"/>
            <a:ext cx="11028565" cy="11070078"/>
          </a:xfrm>
          <a:custGeom>
            <a:rect b="b" l="l" r="r" t="t"/>
            <a:pathLst>
              <a:path extrusionOk="0" h="11070078" w="11028565">
                <a:moveTo>
                  <a:pt x="11028565" y="0"/>
                </a:moveTo>
                <a:lnTo>
                  <a:pt x="0" y="0"/>
                </a:lnTo>
                <a:lnTo>
                  <a:pt x="0" y="11070078"/>
                </a:lnTo>
                <a:lnTo>
                  <a:pt x="11028565" y="11070078"/>
                </a:lnTo>
                <a:lnTo>
                  <a:pt x="11028565" y="0"/>
                </a:lnTo>
                <a:close/>
              </a:path>
            </a:pathLst>
          </a:custGeom>
          <a:blipFill rotWithShape="1">
            <a:blip r:embed="rId4">
              <a:alphaModFix/>
            </a:blip>
            <a:stretch>
              <a:fillRect b="0" l="0" r="0" t="0"/>
            </a:stretch>
          </a:blipFill>
          <a:ln>
            <a:noFill/>
          </a:ln>
        </p:spPr>
      </p:sp>
      <p:sp>
        <p:nvSpPr>
          <p:cNvPr id="179" name="Google Shape;179;p10"/>
          <p:cNvSpPr/>
          <p:nvPr/>
        </p:nvSpPr>
        <p:spPr>
          <a:xfrm>
            <a:off x="6827202" y="5325319"/>
            <a:ext cx="3624575" cy="3392447"/>
          </a:xfrm>
          <a:custGeom>
            <a:rect b="b" l="l" r="r" t="t"/>
            <a:pathLst>
              <a:path extrusionOk="0" h="525579" w="561542">
                <a:moveTo>
                  <a:pt x="49127" y="0"/>
                </a:moveTo>
                <a:lnTo>
                  <a:pt x="512415" y="0"/>
                </a:lnTo>
                <a:cubicBezTo>
                  <a:pt x="525444" y="0"/>
                  <a:pt x="537940" y="5176"/>
                  <a:pt x="547153" y="14389"/>
                </a:cubicBezTo>
                <a:cubicBezTo>
                  <a:pt x="556366" y="23602"/>
                  <a:pt x="561542" y="36098"/>
                  <a:pt x="561542" y="49127"/>
                </a:cubicBezTo>
                <a:lnTo>
                  <a:pt x="561542" y="476452"/>
                </a:lnTo>
                <a:cubicBezTo>
                  <a:pt x="561542" y="489481"/>
                  <a:pt x="556366" y="501977"/>
                  <a:pt x="547153" y="511190"/>
                </a:cubicBezTo>
                <a:cubicBezTo>
                  <a:pt x="537940" y="520403"/>
                  <a:pt x="525444" y="525579"/>
                  <a:pt x="512415" y="525579"/>
                </a:cubicBezTo>
                <a:lnTo>
                  <a:pt x="49127" y="525579"/>
                </a:lnTo>
                <a:cubicBezTo>
                  <a:pt x="36098" y="525579"/>
                  <a:pt x="23602" y="520403"/>
                  <a:pt x="14389" y="511190"/>
                </a:cubicBezTo>
                <a:cubicBezTo>
                  <a:pt x="5176" y="501977"/>
                  <a:pt x="0" y="489481"/>
                  <a:pt x="0" y="476452"/>
                </a:cubicBezTo>
                <a:lnTo>
                  <a:pt x="0" y="49127"/>
                </a:lnTo>
                <a:cubicBezTo>
                  <a:pt x="0" y="36098"/>
                  <a:pt x="5176" y="23602"/>
                  <a:pt x="14389" y="14389"/>
                </a:cubicBezTo>
                <a:cubicBezTo>
                  <a:pt x="23602" y="5176"/>
                  <a:pt x="36098" y="0"/>
                  <a:pt x="49127" y="0"/>
                </a:cubicBezTo>
                <a:close/>
              </a:path>
            </a:pathLst>
          </a:custGeom>
          <a:blipFill rotWithShape="1">
            <a:blip r:embed="rId5">
              <a:alphaModFix/>
            </a:blip>
            <a:stretch>
              <a:fillRect b="0" l="-20323" r="-20323"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0"/>
          <p:cNvSpPr txBox="1"/>
          <p:nvPr/>
        </p:nvSpPr>
        <p:spPr>
          <a:xfrm>
            <a:off x="4053337" y="2038559"/>
            <a:ext cx="10181327" cy="3191511"/>
          </a:xfrm>
          <a:prstGeom prst="rect">
            <a:avLst/>
          </a:prstGeom>
          <a:noFill/>
          <a:ln>
            <a:noFill/>
          </a:ln>
        </p:spPr>
        <p:txBody>
          <a:bodyPr anchorCtr="0" anchor="t" bIns="0" lIns="0" spcFirstLastPara="1" rIns="0" wrap="square" tIns="0">
            <a:spAutoFit/>
          </a:bodyPr>
          <a:lstStyle/>
          <a:p>
            <a:pPr indent="0" lvl="0" marL="0" marR="0" rtl="0" algn="just">
              <a:lnSpc>
                <a:spcPct val="140015"/>
              </a:lnSpc>
              <a:spcBef>
                <a:spcPts val="0"/>
              </a:spcBef>
              <a:spcAft>
                <a:spcPts val="0"/>
              </a:spcAft>
              <a:buNone/>
            </a:pPr>
            <a:r>
              <a:rPr b="0" i="0" lang="en-US" sz="2599" u="none" cap="none" strike="noStrike">
                <a:solidFill>
                  <a:srgbClr val="FAF6F0"/>
                </a:solidFill>
                <a:latin typeface="Belleza"/>
                <a:ea typeface="Belleza"/>
                <a:cs typeface="Belleza"/>
                <a:sym typeface="Belleza"/>
              </a:rPr>
              <a:t>El proyecto consiste en desarrollar una página web para Nay Eventos que incluya funciones como control de inventario, catálogo de servicios, registro de clientes y solicitudes en línea, con el fin de mejorar su organización. No contempla app móvil ni integraciones avanzadas. Abarca todo el proceso desde análisis hasta implementación, entregando un sistema listo para usar con capacitación básica.</a:t>
            </a:r>
            <a:endParaRPr/>
          </a:p>
          <a:p>
            <a:pPr indent="0" lvl="0" marL="0" marR="0" rtl="0" algn="just">
              <a:lnSpc>
                <a:spcPct val="140015"/>
              </a:lnSpc>
              <a:spcBef>
                <a:spcPts val="0"/>
              </a:spcBef>
              <a:spcAft>
                <a:spcPts val="0"/>
              </a:spcAft>
              <a:buNone/>
            </a:pPr>
            <a:r>
              <a:t/>
            </a:r>
            <a:endParaRPr b="0" i="0" sz="2599" u="none" cap="none" strike="noStrike">
              <a:solidFill>
                <a:srgbClr val="FAF6F0"/>
              </a:solidFill>
              <a:latin typeface="Belleza"/>
              <a:ea typeface="Belleza"/>
              <a:cs typeface="Belleza"/>
              <a:sym typeface="Belleza"/>
            </a:endParaRPr>
          </a:p>
        </p:txBody>
      </p:sp>
      <p:sp>
        <p:nvSpPr>
          <p:cNvPr id="181" name="Google Shape;181;p10"/>
          <p:cNvSpPr txBox="1"/>
          <p:nvPr/>
        </p:nvSpPr>
        <p:spPr>
          <a:xfrm>
            <a:off x="4053337" y="1448130"/>
            <a:ext cx="11365455" cy="552449"/>
          </a:xfrm>
          <a:prstGeom prst="rect">
            <a:avLst/>
          </a:prstGeom>
          <a:noFill/>
          <a:ln>
            <a:noFill/>
          </a:ln>
        </p:spPr>
        <p:txBody>
          <a:bodyPr anchorCtr="0" anchor="t" bIns="0" lIns="0" spcFirstLastPara="1" rIns="0" wrap="square" tIns="0">
            <a:spAutoFit/>
          </a:bodyPr>
          <a:lstStyle/>
          <a:p>
            <a:pPr indent="0" lvl="0" marL="0" marR="0" rtl="0" algn="l">
              <a:lnSpc>
                <a:spcPct val="89997"/>
              </a:lnSpc>
              <a:spcBef>
                <a:spcPts val="0"/>
              </a:spcBef>
              <a:spcAft>
                <a:spcPts val="0"/>
              </a:spcAft>
              <a:buNone/>
            </a:pPr>
            <a:r>
              <a:rPr b="0" i="0" lang="en-US" sz="4499" u="none" cap="none" strike="noStrike">
                <a:solidFill>
                  <a:srgbClr val="DBC096"/>
                </a:solidFill>
                <a:latin typeface="Arial"/>
                <a:ea typeface="Arial"/>
                <a:cs typeface="Arial"/>
                <a:sym typeface="Arial"/>
              </a:rPr>
              <a:t>Delimitación y Alcance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1"/>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9222" l="0" r="0" t="-9222"/>
            </a:stretch>
          </a:blipFill>
          <a:ln>
            <a:noFill/>
          </a:ln>
        </p:spPr>
      </p:sp>
      <p:sp>
        <p:nvSpPr>
          <p:cNvPr id="187" name="Google Shape;187;p11"/>
          <p:cNvSpPr/>
          <p:nvPr/>
        </p:nvSpPr>
        <p:spPr>
          <a:xfrm>
            <a:off x="-8678012" y="-391539"/>
            <a:ext cx="11028565" cy="11070078"/>
          </a:xfrm>
          <a:custGeom>
            <a:rect b="b" l="l" r="r" t="t"/>
            <a:pathLst>
              <a:path extrusionOk="0" h="11070078" w="11028565">
                <a:moveTo>
                  <a:pt x="0" y="0"/>
                </a:moveTo>
                <a:lnTo>
                  <a:pt x="11028565" y="0"/>
                </a:lnTo>
                <a:lnTo>
                  <a:pt x="11028565" y="11070078"/>
                </a:lnTo>
                <a:lnTo>
                  <a:pt x="0" y="11070078"/>
                </a:lnTo>
                <a:lnTo>
                  <a:pt x="0" y="0"/>
                </a:lnTo>
                <a:close/>
              </a:path>
            </a:pathLst>
          </a:custGeom>
          <a:blipFill rotWithShape="1">
            <a:blip r:embed="rId4">
              <a:alphaModFix/>
            </a:blip>
            <a:stretch>
              <a:fillRect b="0" l="0" r="0" t="0"/>
            </a:stretch>
          </a:blipFill>
          <a:ln>
            <a:noFill/>
          </a:ln>
        </p:spPr>
      </p:sp>
      <p:sp>
        <p:nvSpPr>
          <p:cNvPr id="188" name="Google Shape;188;p11"/>
          <p:cNvSpPr/>
          <p:nvPr/>
        </p:nvSpPr>
        <p:spPr>
          <a:xfrm flipH="1">
            <a:off x="15937447" y="-391539"/>
            <a:ext cx="11028565" cy="11070078"/>
          </a:xfrm>
          <a:custGeom>
            <a:rect b="b" l="l" r="r" t="t"/>
            <a:pathLst>
              <a:path extrusionOk="0" h="11070078" w="11028565">
                <a:moveTo>
                  <a:pt x="11028565" y="0"/>
                </a:moveTo>
                <a:lnTo>
                  <a:pt x="0" y="0"/>
                </a:lnTo>
                <a:lnTo>
                  <a:pt x="0" y="11070078"/>
                </a:lnTo>
                <a:lnTo>
                  <a:pt x="11028565" y="11070078"/>
                </a:lnTo>
                <a:lnTo>
                  <a:pt x="11028565" y="0"/>
                </a:lnTo>
                <a:close/>
              </a:path>
            </a:pathLst>
          </a:custGeom>
          <a:blipFill rotWithShape="1">
            <a:blip r:embed="rId4">
              <a:alphaModFix/>
            </a:blip>
            <a:stretch>
              <a:fillRect b="0" l="0" r="0" t="0"/>
            </a:stretch>
          </a:blipFill>
          <a:ln>
            <a:noFill/>
          </a:ln>
        </p:spPr>
      </p:sp>
      <p:sp>
        <p:nvSpPr>
          <p:cNvPr id="189" name="Google Shape;189;p11"/>
          <p:cNvSpPr/>
          <p:nvPr/>
        </p:nvSpPr>
        <p:spPr>
          <a:xfrm>
            <a:off x="3465801" y="3595911"/>
            <a:ext cx="2372784" cy="3392447"/>
          </a:xfrm>
          <a:custGeom>
            <a:rect b="b" l="l" r="r" t="t"/>
            <a:pathLst>
              <a:path extrusionOk="0" h="525579" w="367606">
                <a:moveTo>
                  <a:pt x="75044" y="0"/>
                </a:moveTo>
                <a:lnTo>
                  <a:pt x="292562" y="0"/>
                </a:lnTo>
                <a:cubicBezTo>
                  <a:pt x="334008" y="0"/>
                  <a:pt x="367606" y="33599"/>
                  <a:pt x="367606" y="75044"/>
                </a:cubicBezTo>
                <a:lnTo>
                  <a:pt x="367606" y="450534"/>
                </a:lnTo>
                <a:cubicBezTo>
                  <a:pt x="367606" y="491980"/>
                  <a:pt x="334008" y="525579"/>
                  <a:pt x="292562" y="525579"/>
                </a:cubicBezTo>
                <a:lnTo>
                  <a:pt x="75044" y="525579"/>
                </a:lnTo>
                <a:cubicBezTo>
                  <a:pt x="33599" y="525579"/>
                  <a:pt x="0" y="491980"/>
                  <a:pt x="0" y="450534"/>
                </a:cubicBezTo>
                <a:lnTo>
                  <a:pt x="0" y="75044"/>
                </a:lnTo>
                <a:cubicBezTo>
                  <a:pt x="0" y="33599"/>
                  <a:pt x="33599" y="0"/>
                  <a:pt x="75044" y="0"/>
                </a:cubicBezTo>
                <a:close/>
              </a:path>
            </a:pathLst>
          </a:custGeom>
          <a:blipFill rotWithShape="1">
            <a:blip r:embed="rId5">
              <a:alphaModFix/>
            </a:blip>
            <a:stretch>
              <a:fillRect b="0" l="-108555" r="-6295"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11"/>
          <p:cNvSpPr/>
          <p:nvPr/>
        </p:nvSpPr>
        <p:spPr>
          <a:xfrm>
            <a:off x="6461849" y="4689648"/>
            <a:ext cx="2371274" cy="3392447"/>
          </a:xfrm>
          <a:custGeom>
            <a:rect b="b" l="l" r="r" t="t"/>
            <a:pathLst>
              <a:path extrusionOk="0" h="525579" w="367372">
                <a:moveTo>
                  <a:pt x="75092" y="0"/>
                </a:moveTo>
                <a:lnTo>
                  <a:pt x="292280" y="0"/>
                </a:lnTo>
                <a:cubicBezTo>
                  <a:pt x="312196" y="0"/>
                  <a:pt x="331296" y="7911"/>
                  <a:pt x="345378" y="21994"/>
                </a:cubicBezTo>
                <a:cubicBezTo>
                  <a:pt x="359461" y="36077"/>
                  <a:pt x="367372" y="55176"/>
                  <a:pt x="367372" y="75092"/>
                </a:cubicBezTo>
                <a:lnTo>
                  <a:pt x="367372" y="450487"/>
                </a:lnTo>
                <a:cubicBezTo>
                  <a:pt x="367372" y="470402"/>
                  <a:pt x="359461" y="489502"/>
                  <a:pt x="345378" y="503585"/>
                </a:cubicBezTo>
                <a:cubicBezTo>
                  <a:pt x="331296" y="517667"/>
                  <a:pt x="312196" y="525579"/>
                  <a:pt x="292280" y="525579"/>
                </a:cubicBezTo>
                <a:lnTo>
                  <a:pt x="75092" y="525579"/>
                </a:lnTo>
                <a:cubicBezTo>
                  <a:pt x="55176" y="525579"/>
                  <a:pt x="36077" y="517667"/>
                  <a:pt x="21994" y="503585"/>
                </a:cubicBezTo>
                <a:cubicBezTo>
                  <a:pt x="7911" y="489502"/>
                  <a:pt x="0" y="470402"/>
                  <a:pt x="0" y="450487"/>
                </a:cubicBezTo>
                <a:lnTo>
                  <a:pt x="0" y="75092"/>
                </a:lnTo>
                <a:cubicBezTo>
                  <a:pt x="0" y="55176"/>
                  <a:pt x="7911" y="36077"/>
                  <a:pt x="21994" y="21994"/>
                </a:cubicBezTo>
                <a:cubicBezTo>
                  <a:pt x="36077" y="7911"/>
                  <a:pt x="55176" y="0"/>
                  <a:pt x="75092" y="0"/>
                </a:cubicBezTo>
                <a:close/>
              </a:path>
            </a:pathLst>
          </a:custGeom>
          <a:blipFill rotWithShape="1">
            <a:blip r:embed="rId6">
              <a:alphaModFix/>
            </a:blip>
            <a:stretch>
              <a:fillRect b="0" l="-24458" r="-24458"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a:off x="9460915" y="3595911"/>
            <a:ext cx="2369765" cy="3392447"/>
          </a:xfrm>
          <a:custGeom>
            <a:rect b="b" l="l" r="r" t="t"/>
            <a:pathLst>
              <a:path extrusionOk="0" h="525579" w="367139">
                <a:moveTo>
                  <a:pt x="75140" y="0"/>
                </a:moveTo>
                <a:lnTo>
                  <a:pt x="291999" y="0"/>
                </a:lnTo>
                <a:cubicBezTo>
                  <a:pt x="311927" y="0"/>
                  <a:pt x="331039" y="7917"/>
                  <a:pt x="345131" y="22008"/>
                </a:cubicBezTo>
                <a:cubicBezTo>
                  <a:pt x="359222" y="36099"/>
                  <a:pt x="367139" y="55212"/>
                  <a:pt x="367139" y="75140"/>
                </a:cubicBezTo>
                <a:lnTo>
                  <a:pt x="367139" y="450439"/>
                </a:lnTo>
                <a:cubicBezTo>
                  <a:pt x="367139" y="470367"/>
                  <a:pt x="359222" y="489479"/>
                  <a:pt x="345131" y="503571"/>
                </a:cubicBezTo>
                <a:cubicBezTo>
                  <a:pt x="331039" y="517662"/>
                  <a:pt x="311927" y="525579"/>
                  <a:pt x="291999" y="525579"/>
                </a:cubicBezTo>
                <a:lnTo>
                  <a:pt x="75140" y="525579"/>
                </a:lnTo>
                <a:cubicBezTo>
                  <a:pt x="55212" y="525579"/>
                  <a:pt x="36099" y="517662"/>
                  <a:pt x="22008" y="503571"/>
                </a:cubicBezTo>
                <a:cubicBezTo>
                  <a:pt x="7917" y="489479"/>
                  <a:pt x="0" y="470367"/>
                  <a:pt x="0" y="450439"/>
                </a:cubicBezTo>
                <a:lnTo>
                  <a:pt x="0" y="75140"/>
                </a:lnTo>
                <a:cubicBezTo>
                  <a:pt x="0" y="55212"/>
                  <a:pt x="7917" y="36099"/>
                  <a:pt x="22008" y="22008"/>
                </a:cubicBezTo>
                <a:cubicBezTo>
                  <a:pt x="36099" y="7917"/>
                  <a:pt x="55212" y="0"/>
                  <a:pt x="75140" y="0"/>
                </a:cubicBezTo>
                <a:close/>
              </a:path>
            </a:pathLst>
          </a:custGeom>
          <a:blipFill rotWithShape="1">
            <a:blip r:embed="rId7">
              <a:alphaModFix/>
            </a:blip>
            <a:stretch>
              <a:fillRect b="0" l="-77818" r="-77818"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a:off x="12458472" y="4689648"/>
            <a:ext cx="2368255" cy="3392447"/>
          </a:xfrm>
          <a:custGeom>
            <a:rect b="b" l="l" r="r" t="t"/>
            <a:pathLst>
              <a:path extrusionOk="0" h="525579" w="366905">
                <a:moveTo>
                  <a:pt x="75188" y="0"/>
                </a:moveTo>
                <a:lnTo>
                  <a:pt x="291717" y="0"/>
                </a:lnTo>
                <a:cubicBezTo>
                  <a:pt x="333242" y="0"/>
                  <a:pt x="366905" y="33663"/>
                  <a:pt x="366905" y="75188"/>
                </a:cubicBezTo>
                <a:lnTo>
                  <a:pt x="366905" y="450391"/>
                </a:lnTo>
                <a:cubicBezTo>
                  <a:pt x="366905" y="491916"/>
                  <a:pt x="333242" y="525579"/>
                  <a:pt x="291717" y="525579"/>
                </a:cubicBezTo>
                <a:lnTo>
                  <a:pt x="75188" y="525579"/>
                </a:lnTo>
                <a:cubicBezTo>
                  <a:pt x="33663" y="525579"/>
                  <a:pt x="0" y="491916"/>
                  <a:pt x="0" y="450391"/>
                </a:cubicBezTo>
                <a:lnTo>
                  <a:pt x="0" y="75188"/>
                </a:lnTo>
                <a:cubicBezTo>
                  <a:pt x="0" y="33663"/>
                  <a:pt x="33663" y="0"/>
                  <a:pt x="75188" y="0"/>
                </a:cubicBezTo>
                <a:close/>
              </a:path>
            </a:pathLst>
          </a:custGeom>
          <a:blipFill rotWithShape="1">
            <a:blip r:embed="rId8">
              <a:alphaModFix/>
            </a:blip>
            <a:stretch>
              <a:fillRect b="0" l="-57629" r="-57629"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txBox="1"/>
          <p:nvPr/>
        </p:nvSpPr>
        <p:spPr>
          <a:xfrm>
            <a:off x="5404874" y="1740977"/>
            <a:ext cx="7478253" cy="782953"/>
          </a:xfrm>
          <a:prstGeom prst="rect">
            <a:avLst/>
          </a:prstGeom>
          <a:noFill/>
          <a:ln>
            <a:noFill/>
          </a:ln>
        </p:spPr>
        <p:txBody>
          <a:bodyPr anchorCtr="0" anchor="t" bIns="0" lIns="0" spcFirstLastPara="1" rIns="0" wrap="square" tIns="0">
            <a:spAutoFit/>
          </a:bodyPr>
          <a:lstStyle/>
          <a:p>
            <a:pPr indent="0" lvl="0" marL="0" marR="0" rtl="0" algn="l">
              <a:lnSpc>
                <a:spcPct val="89998"/>
              </a:lnSpc>
              <a:spcBef>
                <a:spcPts val="0"/>
              </a:spcBef>
              <a:spcAft>
                <a:spcPts val="0"/>
              </a:spcAft>
              <a:buNone/>
            </a:pPr>
            <a:r>
              <a:rPr b="0" i="0" lang="en-US" sz="6299" u="none" cap="none" strike="noStrike">
                <a:solidFill>
                  <a:srgbClr val="DBC096"/>
                </a:solidFill>
                <a:latin typeface="Arial"/>
                <a:ea typeface="Arial"/>
                <a:cs typeface="Arial"/>
                <a:sym typeface="Arial"/>
              </a:rPr>
              <a:t>Links Adicionales</a:t>
            </a:r>
            <a:endParaRPr/>
          </a:p>
        </p:txBody>
      </p:sp>
      <p:sp>
        <p:nvSpPr>
          <p:cNvPr id="194" name="Google Shape;194;p11"/>
          <p:cNvSpPr txBox="1"/>
          <p:nvPr/>
        </p:nvSpPr>
        <p:spPr>
          <a:xfrm>
            <a:off x="6461849" y="8175757"/>
            <a:ext cx="2368255" cy="843915"/>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0" i="0" lang="en-US" sz="2400" u="sng" cap="none" strike="noStrike">
                <a:solidFill>
                  <a:srgbClr val="DBC096"/>
                </a:solidFill>
                <a:latin typeface="Arial"/>
                <a:ea typeface="Arial"/>
                <a:cs typeface="Arial"/>
                <a:sym typeface="Arial"/>
                <a:hlinkClick r:id="rId9">
                  <a:extLst>
                    <a:ext uri="{A12FA001-AC4F-418D-AE19-62706E023703}">
                      <ahyp:hlinkClr val="tx"/>
                    </a:ext>
                  </a:extLst>
                </a:hlinkClick>
              </a:rPr>
              <a:t>Técnicas de Recolección de la Información</a:t>
            </a:r>
            <a:endParaRPr/>
          </a:p>
        </p:txBody>
      </p:sp>
      <p:sp>
        <p:nvSpPr>
          <p:cNvPr id="195" name="Google Shape;195;p11"/>
          <p:cNvSpPr txBox="1"/>
          <p:nvPr/>
        </p:nvSpPr>
        <p:spPr>
          <a:xfrm>
            <a:off x="9452248" y="7542570"/>
            <a:ext cx="2368255" cy="843915"/>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0" i="0" lang="en-US" sz="2400" u="sng" cap="none" strike="noStrike">
                <a:solidFill>
                  <a:srgbClr val="DBC096"/>
                </a:solidFill>
                <a:latin typeface="Arial"/>
                <a:ea typeface="Arial"/>
                <a:cs typeface="Arial"/>
                <a:sym typeface="Arial"/>
                <a:hlinkClick r:id="rId10">
                  <a:extLst>
                    <a:ext uri="{A12FA001-AC4F-418D-AE19-62706E023703}">
                      <ahyp:hlinkClr val="tx"/>
                    </a:ext>
                  </a:extLst>
                </a:hlinkClick>
              </a:rPr>
              <a:t>Requerimientos Funcionales y No Funcionales</a:t>
            </a:r>
            <a:endParaRPr/>
          </a:p>
        </p:txBody>
      </p:sp>
      <p:sp>
        <p:nvSpPr>
          <p:cNvPr id="196" name="Google Shape;196;p11"/>
          <p:cNvSpPr txBox="1"/>
          <p:nvPr/>
        </p:nvSpPr>
        <p:spPr>
          <a:xfrm>
            <a:off x="12458472" y="8442457"/>
            <a:ext cx="2368255" cy="310515"/>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0" i="0" lang="en-US" sz="2400" u="sng" cap="none" strike="noStrike">
                <a:solidFill>
                  <a:srgbClr val="DBC096"/>
                </a:solidFill>
                <a:latin typeface="Arial"/>
                <a:ea typeface="Arial"/>
                <a:cs typeface="Arial"/>
                <a:sym typeface="Arial"/>
                <a:hlinkClick r:id="rId11">
                  <a:extLst>
                    <a:ext uri="{A12FA001-AC4F-418D-AE19-62706E023703}">
                      <ahyp:hlinkClr val="tx"/>
                    </a:ext>
                  </a:extLst>
                </a:hlinkClick>
              </a:rPr>
              <a:t>GitHub</a:t>
            </a:r>
            <a:endParaRPr/>
          </a:p>
        </p:txBody>
      </p:sp>
      <p:sp>
        <p:nvSpPr>
          <p:cNvPr id="197" name="Google Shape;197;p11"/>
          <p:cNvSpPr txBox="1"/>
          <p:nvPr/>
        </p:nvSpPr>
        <p:spPr>
          <a:xfrm>
            <a:off x="3455418" y="7363500"/>
            <a:ext cx="2368255" cy="310515"/>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0" i="0" lang="en-US" sz="2400" u="sng" cap="none" strike="noStrike">
                <a:solidFill>
                  <a:srgbClr val="DBC096"/>
                </a:solidFill>
                <a:latin typeface="Arial"/>
                <a:ea typeface="Arial"/>
                <a:cs typeface="Arial"/>
                <a:sym typeface="Arial"/>
                <a:hlinkClick r:id="rId12">
                  <a:extLst>
                    <a:ext uri="{A12FA001-AC4F-418D-AE19-62706E023703}">
                      <ahyp:hlinkClr val="tx"/>
                    </a:ext>
                  </a:extLst>
                </a:hlinkClick>
              </a:rPr>
              <a:t>BPMN</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2"/>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9222" l="0" r="0" t="-9222"/>
            </a:stretch>
          </a:blipFill>
          <a:ln>
            <a:noFill/>
          </a:ln>
        </p:spPr>
      </p:sp>
      <p:sp>
        <p:nvSpPr>
          <p:cNvPr id="203" name="Google Shape;203;p12"/>
          <p:cNvSpPr/>
          <p:nvPr/>
        </p:nvSpPr>
        <p:spPr>
          <a:xfrm>
            <a:off x="-8678012" y="-391539"/>
            <a:ext cx="11028565" cy="11070078"/>
          </a:xfrm>
          <a:custGeom>
            <a:rect b="b" l="l" r="r" t="t"/>
            <a:pathLst>
              <a:path extrusionOk="0" h="11070078" w="11028565">
                <a:moveTo>
                  <a:pt x="0" y="0"/>
                </a:moveTo>
                <a:lnTo>
                  <a:pt x="11028565" y="0"/>
                </a:lnTo>
                <a:lnTo>
                  <a:pt x="11028565" y="11070078"/>
                </a:lnTo>
                <a:lnTo>
                  <a:pt x="0" y="11070078"/>
                </a:lnTo>
                <a:lnTo>
                  <a:pt x="0" y="0"/>
                </a:lnTo>
                <a:close/>
              </a:path>
            </a:pathLst>
          </a:custGeom>
          <a:blipFill rotWithShape="1">
            <a:blip r:embed="rId4">
              <a:alphaModFix/>
            </a:blip>
            <a:stretch>
              <a:fillRect b="0" l="0" r="0" t="0"/>
            </a:stretch>
          </a:blipFill>
          <a:ln>
            <a:noFill/>
          </a:ln>
        </p:spPr>
      </p:sp>
      <p:sp>
        <p:nvSpPr>
          <p:cNvPr id="204" name="Google Shape;204;p12"/>
          <p:cNvSpPr/>
          <p:nvPr/>
        </p:nvSpPr>
        <p:spPr>
          <a:xfrm flipH="1">
            <a:off x="15937447" y="-391539"/>
            <a:ext cx="11028565" cy="11070078"/>
          </a:xfrm>
          <a:custGeom>
            <a:rect b="b" l="l" r="r" t="t"/>
            <a:pathLst>
              <a:path extrusionOk="0" h="11070078" w="11028565">
                <a:moveTo>
                  <a:pt x="11028565" y="0"/>
                </a:moveTo>
                <a:lnTo>
                  <a:pt x="0" y="0"/>
                </a:lnTo>
                <a:lnTo>
                  <a:pt x="0" y="11070078"/>
                </a:lnTo>
                <a:lnTo>
                  <a:pt x="11028565" y="11070078"/>
                </a:lnTo>
                <a:lnTo>
                  <a:pt x="11028565" y="0"/>
                </a:lnTo>
                <a:close/>
              </a:path>
            </a:pathLst>
          </a:custGeom>
          <a:blipFill rotWithShape="1">
            <a:blip r:embed="rId4">
              <a:alphaModFix/>
            </a:blip>
            <a:stretch>
              <a:fillRect b="0" l="0" r="0" t="0"/>
            </a:stretch>
          </a:blipFill>
          <a:ln>
            <a:noFill/>
          </a:ln>
        </p:spPr>
      </p:sp>
      <p:sp>
        <p:nvSpPr>
          <p:cNvPr id="205" name="Google Shape;205;p12"/>
          <p:cNvSpPr/>
          <p:nvPr/>
        </p:nvSpPr>
        <p:spPr>
          <a:xfrm>
            <a:off x="2820689" y="2726335"/>
            <a:ext cx="2372784" cy="3392447"/>
          </a:xfrm>
          <a:custGeom>
            <a:rect b="b" l="l" r="r" t="t"/>
            <a:pathLst>
              <a:path extrusionOk="0" h="525579" w="367606">
                <a:moveTo>
                  <a:pt x="75044" y="0"/>
                </a:moveTo>
                <a:lnTo>
                  <a:pt x="292562" y="0"/>
                </a:lnTo>
                <a:cubicBezTo>
                  <a:pt x="334008" y="0"/>
                  <a:pt x="367606" y="33599"/>
                  <a:pt x="367606" y="75044"/>
                </a:cubicBezTo>
                <a:lnTo>
                  <a:pt x="367606" y="450534"/>
                </a:lnTo>
                <a:cubicBezTo>
                  <a:pt x="367606" y="491980"/>
                  <a:pt x="334008" y="525579"/>
                  <a:pt x="292562" y="525579"/>
                </a:cubicBezTo>
                <a:lnTo>
                  <a:pt x="75044" y="525579"/>
                </a:lnTo>
                <a:cubicBezTo>
                  <a:pt x="33599" y="525579"/>
                  <a:pt x="0" y="491980"/>
                  <a:pt x="0" y="450534"/>
                </a:cubicBezTo>
                <a:lnTo>
                  <a:pt x="0" y="75044"/>
                </a:lnTo>
                <a:cubicBezTo>
                  <a:pt x="0" y="33599"/>
                  <a:pt x="33599" y="0"/>
                  <a:pt x="75044" y="0"/>
                </a:cubicBezTo>
                <a:close/>
              </a:path>
            </a:pathLst>
          </a:custGeom>
          <a:blipFill rotWithShape="1">
            <a:blip r:embed="rId5">
              <a:alphaModFix/>
            </a:blip>
            <a:stretch>
              <a:fillRect b="0" l="-38392" r="-38392"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2"/>
          <p:cNvSpPr/>
          <p:nvPr/>
        </p:nvSpPr>
        <p:spPr>
          <a:xfrm>
            <a:off x="9852729" y="2726335"/>
            <a:ext cx="2369765" cy="3392447"/>
          </a:xfrm>
          <a:custGeom>
            <a:rect b="b" l="l" r="r" t="t"/>
            <a:pathLst>
              <a:path extrusionOk="0" h="525579" w="367139">
                <a:moveTo>
                  <a:pt x="75140" y="0"/>
                </a:moveTo>
                <a:lnTo>
                  <a:pt x="291999" y="0"/>
                </a:lnTo>
                <a:cubicBezTo>
                  <a:pt x="311927" y="0"/>
                  <a:pt x="331039" y="7917"/>
                  <a:pt x="345131" y="22008"/>
                </a:cubicBezTo>
                <a:cubicBezTo>
                  <a:pt x="359222" y="36099"/>
                  <a:pt x="367139" y="55212"/>
                  <a:pt x="367139" y="75140"/>
                </a:cubicBezTo>
                <a:lnTo>
                  <a:pt x="367139" y="450439"/>
                </a:lnTo>
                <a:cubicBezTo>
                  <a:pt x="367139" y="470367"/>
                  <a:pt x="359222" y="489479"/>
                  <a:pt x="345131" y="503571"/>
                </a:cubicBezTo>
                <a:cubicBezTo>
                  <a:pt x="331039" y="517662"/>
                  <a:pt x="311927" y="525579"/>
                  <a:pt x="291999" y="525579"/>
                </a:cubicBezTo>
                <a:lnTo>
                  <a:pt x="75140" y="525579"/>
                </a:lnTo>
                <a:cubicBezTo>
                  <a:pt x="55212" y="525579"/>
                  <a:pt x="36099" y="517662"/>
                  <a:pt x="22008" y="503571"/>
                </a:cubicBezTo>
                <a:cubicBezTo>
                  <a:pt x="7917" y="489479"/>
                  <a:pt x="0" y="470367"/>
                  <a:pt x="0" y="450439"/>
                </a:cubicBezTo>
                <a:lnTo>
                  <a:pt x="0" y="75140"/>
                </a:lnTo>
                <a:cubicBezTo>
                  <a:pt x="0" y="55212"/>
                  <a:pt x="7917" y="36099"/>
                  <a:pt x="22008" y="22008"/>
                </a:cubicBezTo>
                <a:cubicBezTo>
                  <a:pt x="36099" y="7917"/>
                  <a:pt x="55212" y="0"/>
                  <a:pt x="75140" y="0"/>
                </a:cubicBezTo>
                <a:close/>
              </a:path>
            </a:pathLst>
          </a:custGeom>
          <a:blipFill rotWithShape="1">
            <a:blip r:embed="rId6">
              <a:alphaModFix/>
            </a:blip>
            <a:stretch>
              <a:fillRect b="0" l="-71933" r="-71933"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2"/>
          <p:cNvSpPr/>
          <p:nvPr/>
        </p:nvSpPr>
        <p:spPr>
          <a:xfrm>
            <a:off x="6364037" y="3295930"/>
            <a:ext cx="2369765" cy="3392447"/>
          </a:xfrm>
          <a:custGeom>
            <a:rect b="b" l="l" r="r" t="t"/>
            <a:pathLst>
              <a:path extrusionOk="0" h="525579" w="367139">
                <a:moveTo>
                  <a:pt x="75140" y="0"/>
                </a:moveTo>
                <a:lnTo>
                  <a:pt x="291999" y="0"/>
                </a:lnTo>
                <a:cubicBezTo>
                  <a:pt x="311927" y="0"/>
                  <a:pt x="331039" y="7917"/>
                  <a:pt x="345131" y="22008"/>
                </a:cubicBezTo>
                <a:cubicBezTo>
                  <a:pt x="359222" y="36099"/>
                  <a:pt x="367139" y="55212"/>
                  <a:pt x="367139" y="75140"/>
                </a:cubicBezTo>
                <a:lnTo>
                  <a:pt x="367139" y="450439"/>
                </a:lnTo>
                <a:cubicBezTo>
                  <a:pt x="367139" y="470367"/>
                  <a:pt x="359222" y="489479"/>
                  <a:pt x="345131" y="503571"/>
                </a:cubicBezTo>
                <a:cubicBezTo>
                  <a:pt x="331039" y="517662"/>
                  <a:pt x="311927" y="525579"/>
                  <a:pt x="291999" y="525579"/>
                </a:cubicBezTo>
                <a:lnTo>
                  <a:pt x="75140" y="525579"/>
                </a:lnTo>
                <a:cubicBezTo>
                  <a:pt x="55212" y="525579"/>
                  <a:pt x="36099" y="517662"/>
                  <a:pt x="22008" y="503571"/>
                </a:cubicBezTo>
                <a:cubicBezTo>
                  <a:pt x="7917" y="489479"/>
                  <a:pt x="0" y="470367"/>
                  <a:pt x="0" y="450439"/>
                </a:cubicBezTo>
                <a:lnTo>
                  <a:pt x="0" y="75140"/>
                </a:lnTo>
                <a:cubicBezTo>
                  <a:pt x="0" y="55212"/>
                  <a:pt x="7917" y="36099"/>
                  <a:pt x="22008" y="22008"/>
                </a:cubicBezTo>
                <a:cubicBezTo>
                  <a:pt x="36099" y="7917"/>
                  <a:pt x="55212" y="0"/>
                  <a:pt x="75140" y="0"/>
                </a:cubicBezTo>
                <a:close/>
              </a:path>
            </a:pathLst>
          </a:custGeom>
          <a:blipFill rotWithShape="1">
            <a:blip r:embed="rId7">
              <a:alphaModFix/>
            </a:blip>
            <a:stretch>
              <a:fillRect b="0" l="-69457" r="-69457"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2"/>
          <p:cNvSpPr/>
          <p:nvPr/>
        </p:nvSpPr>
        <p:spPr>
          <a:xfrm>
            <a:off x="12965444" y="3447277"/>
            <a:ext cx="2369765" cy="3392447"/>
          </a:xfrm>
          <a:custGeom>
            <a:rect b="b" l="l" r="r" t="t"/>
            <a:pathLst>
              <a:path extrusionOk="0" h="525579" w="367139">
                <a:moveTo>
                  <a:pt x="75140" y="0"/>
                </a:moveTo>
                <a:lnTo>
                  <a:pt x="291999" y="0"/>
                </a:lnTo>
                <a:cubicBezTo>
                  <a:pt x="311927" y="0"/>
                  <a:pt x="331039" y="7917"/>
                  <a:pt x="345131" y="22008"/>
                </a:cubicBezTo>
                <a:cubicBezTo>
                  <a:pt x="359222" y="36099"/>
                  <a:pt x="367139" y="55212"/>
                  <a:pt x="367139" y="75140"/>
                </a:cubicBezTo>
                <a:lnTo>
                  <a:pt x="367139" y="450439"/>
                </a:lnTo>
                <a:cubicBezTo>
                  <a:pt x="367139" y="470367"/>
                  <a:pt x="359222" y="489479"/>
                  <a:pt x="345131" y="503571"/>
                </a:cubicBezTo>
                <a:cubicBezTo>
                  <a:pt x="331039" y="517662"/>
                  <a:pt x="311927" y="525579"/>
                  <a:pt x="291999" y="525579"/>
                </a:cubicBezTo>
                <a:lnTo>
                  <a:pt x="75140" y="525579"/>
                </a:lnTo>
                <a:cubicBezTo>
                  <a:pt x="55212" y="525579"/>
                  <a:pt x="36099" y="517662"/>
                  <a:pt x="22008" y="503571"/>
                </a:cubicBezTo>
                <a:cubicBezTo>
                  <a:pt x="7917" y="489479"/>
                  <a:pt x="0" y="470367"/>
                  <a:pt x="0" y="450439"/>
                </a:cubicBezTo>
                <a:lnTo>
                  <a:pt x="0" y="75140"/>
                </a:lnTo>
                <a:cubicBezTo>
                  <a:pt x="0" y="55212"/>
                  <a:pt x="7917" y="36099"/>
                  <a:pt x="22008" y="22008"/>
                </a:cubicBezTo>
                <a:cubicBezTo>
                  <a:pt x="36099" y="7917"/>
                  <a:pt x="55212" y="0"/>
                  <a:pt x="75140" y="0"/>
                </a:cubicBezTo>
                <a:close/>
              </a:path>
            </a:pathLst>
          </a:custGeom>
          <a:blipFill rotWithShape="1">
            <a:blip r:embed="rId8">
              <a:alphaModFix/>
            </a:blip>
            <a:stretch>
              <a:fillRect b="0" l="-21578" r="-21578"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2"/>
          <p:cNvSpPr txBox="1"/>
          <p:nvPr/>
        </p:nvSpPr>
        <p:spPr>
          <a:xfrm>
            <a:off x="6287776" y="1689670"/>
            <a:ext cx="7478253" cy="782953"/>
          </a:xfrm>
          <a:prstGeom prst="rect">
            <a:avLst/>
          </a:prstGeom>
          <a:noFill/>
          <a:ln>
            <a:noFill/>
          </a:ln>
        </p:spPr>
        <p:txBody>
          <a:bodyPr anchorCtr="0" anchor="t" bIns="0" lIns="0" spcFirstLastPara="1" rIns="0" wrap="square" tIns="0">
            <a:spAutoFit/>
          </a:bodyPr>
          <a:lstStyle/>
          <a:p>
            <a:pPr indent="0" lvl="0" marL="0" marR="0" rtl="0" algn="l">
              <a:lnSpc>
                <a:spcPct val="89998"/>
              </a:lnSpc>
              <a:spcBef>
                <a:spcPts val="0"/>
              </a:spcBef>
              <a:spcAft>
                <a:spcPts val="0"/>
              </a:spcAft>
              <a:buNone/>
            </a:pPr>
            <a:r>
              <a:rPr b="0" i="0" lang="en-US" sz="6299" u="none" cap="none" strike="noStrike">
                <a:solidFill>
                  <a:srgbClr val="DBC096"/>
                </a:solidFill>
                <a:latin typeface="Arial"/>
                <a:ea typeface="Arial"/>
                <a:cs typeface="Arial"/>
                <a:sym typeface="Arial"/>
              </a:rPr>
              <a:t>Links Adicionales</a:t>
            </a:r>
            <a:endParaRPr/>
          </a:p>
        </p:txBody>
      </p:sp>
      <p:sp>
        <p:nvSpPr>
          <p:cNvPr id="210" name="Google Shape;210;p12"/>
          <p:cNvSpPr txBox="1"/>
          <p:nvPr/>
        </p:nvSpPr>
        <p:spPr>
          <a:xfrm>
            <a:off x="9476752" y="6423582"/>
            <a:ext cx="3006224" cy="577215"/>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0" i="0" lang="en-US" sz="2400" u="sng" cap="none" strike="noStrike">
                <a:solidFill>
                  <a:srgbClr val="DBC096"/>
                </a:solidFill>
                <a:latin typeface="Arial"/>
                <a:ea typeface="Arial"/>
                <a:cs typeface="Arial"/>
                <a:sym typeface="Arial"/>
                <a:hlinkClick r:id="rId9">
                  <a:extLst>
                    <a:ext uri="{A12FA001-AC4F-418D-AE19-62706E023703}">
                      <ahyp:hlinkClr val="tx"/>
                    </a:ext>
                  </a:extLst>
                </a:hlinkClick>
              </a:rPr>
              <a:t>DIAGRAMA DE GANTT</a:t>
            </a:r>
            <a:endParaRPr/>
          </a:p>
        </p:txBody>
      </p:sp>
      <p:sp>
        <p:nvSpPr>
          <p:cNvPr id="211" name="Google Shape;211;p12"/>
          <p:cNvSpPr txBox="1"/>
          <p:nvPr/>
        </p:nvSpPr>
        <p:spPr>
          <a:xfrm>
            <a:off x="2540765" y="6574928"/>
            <a:ext cx="2932632" cy="577215"/>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0" i="0" lang="en-US" sz="2400" u="sng" cap="none" strike="noStrike">
                <a:solidFill>
                  <a:srgbClr val="DBC096"/>
                </a:solidFill>
                <a:latin typeface="Arial"/>
                <a:ea typeface="Arial"/>
                <a:cs typeface="Arial"/>
                <a:sym typeface="Arial"/>
                <a:hlinkClick r:id="rId10">
                  <a:extLst>
                    <a:ext uri="{A12FA001-AC4F-418D-AE19-62706E023703}">
                      <ahyp:hlinkClr val="tx"/>
                    </a:ext>
                  </a:extLst>
                </a:hlinkClick>
              </a:rPr>
              <a:t>PLANTEAMIENTO DEL PROBLEMA</a:t>
            </a:r>
            <a:endParaRPr/>
          </a:p>
        </p:txBody>
      </p:sp>
      <p:sp>
        <p:nvSpPr>
          <p:cNvPr id="212" name="Google Shape;212;p12"/>
          <p:cNvSpPr txBox="1"/>
          <p:nvPr/>
        </p:nvSpPr>
        <p:spPr>
          <a:xfrm>
            <a:off x="6137776" y="7199768"/>
            <a:ext cx="3006300" cy="6651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lang="en-US" sz="2400">
                <a:solidFill>
                  <a:srgbClr val="DBC096"/>
                </a:solidFill>
              </a:rPr>
              <a:t>DIAGRAMA DE CASOS DE USOS</a:t>
            </a:r>
            <a:endParaRPr/>
          </a:p>
        </p:txBody>
      </p:sp>
      <p:sp>
        <p:nvSpPr>
          <p:cNvPr id="213" name="Google Shape;213;p12"/>
          <p:cNvSpPr txBox="1"/>
          <p:nvPr/>
        </p:nvSpPr>
        <p:spPr>
          <a:xfrm>
            <a:off x="12647214" y="7333118"/>
            <a:ext cx="3006224" cy="310515"/>
          </a:xfrm>
          <a:prstGeom prst="rect">
            <a:avLst/>
          </a:prstGeom>
          <a:noFill/>
          <a:ln>
            <a:noFill/>
          </a:ln>
        </p:spPr>
        <p:txBody>
          <a:bodyPr anchorCtr="0" anchor="t" bIns="0" lIns="0" spcFirstLastPara="1" rIns="0" wrap="square" tIns="0">
            <a:spAutoFit/>
          </a:bodyPr>
          <a:lstStyle/>
          <a:p>
            <a:pPr indent="0" lvl="0" marL="0" marR="0" rtl="0" algn="ctr">
              <a:lnSpc>
                <a:spcPct val="90000"/>
              </a:lnSpc>
              <a:spcBef>
                <a:spcPts val="0"/>
              </a:spcBef>
              <a:spcAft>
                <a:spcPts val="0"/>
              </a:spcAft>
              <a:buNone/>
            </a:pPr>
            <a:r>
              <a:rPr b="0" i="0" lang="en-US" sz="2400" u="sng" cap="none" strike="noStrike">
                <a:solidFill>
                  <a:srgbClr val="DBC096"/>
                </a:solidFill>
                <a:latin typeface="Arial"/>
                <a:ea typeface="Arial"/>
                <a:cs typeface="Arial"/>
                <a:sym typeface="Arial"/>
                <a:hlinkClick r:id="rId11">
                  <a:extLst>
                    <a:ext uri="{A12FA001-AC4F-418D-AE19-62706E023703}">
                      <ahyp:hlinkClr val="tx"/>
                    </a:ext>
                  </a:extLst>
                </a:hlinkClick>
              </a:rPr>
              <a:t>COSTOS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3"/>
          <p:cNvSpPr/>
          <p:nvPr/>
        </p:nvSpPr>
        <p:spPr>
          <a:xfrm flipH="1">
            <a:off x="0" y="0"/>
            <a:ext cx="18288000" cy="10287000"/>
          </a:xfrm>
          <a:custGeom>
            <a:rect b="b" l="l" r="r" t="t"/>
            <a:pathLst>
              <a:path extrusionOk="0" h="10287000" w="18288000">
                <a:moveTo>
                  <a:pt x="18288000" y="0"/>
                </a:moveTo>
                <a:lnTo>
                  <a:pt x="0" y="0"/>
                </a:lnTo>
                <a:lnTo>
                  <a:pt x="0" y="10287000"/>
                </a:lnTo>
                <a:lnTo>
                  <a:pt x="18288000" y="10287000"/>
                </a:lnTo>
                <a:lnTo>
                  <a:pt x="18288000" y="0"/>
                </a:lnTo>
                <a:close/>
              </a:path>
            </a:pathLst>
          </a:custGeom>
          <a:blipFill rotWithShape="1">
            <a:blip r:embed="rId3">
              <a:alphaModFix/>
            </a:blip>
            <a:stretch>
              <a:fillRect b="-9222" l="0" r="0" t="-9222"/>
            </a:stretch>
          </a:blipFill>
          <a:ln>
            <a:noFill/>
          </a:ln>
        </p:spPr>
      </p:sp>
      <p:sp>
        <p:nvSpPr>
          <p:cNvPr id="219" name="Google Shape;219;p13"/>
          <p:cNvSpPr txBox="1"/>
          <p:nvPr/>
        </p:nvSpPr>
        <p:spPr>
          <a:xfrm>
            <a:off x="3602253" y="6742006"/>
            <a:ext cx="11083494" cy="1158495"/>
          </a:xfrm>
          <a:prstGeom prst="rect">
            <a:avLst/>
          </a:prstGeom>
          <a:noFill/>
          <a:ln>
            <a:noFill/>
          </a:ln>
        </p:spPr>
        <p:txBody>
          <a:bodyPr anchorCtr="0" anchor="t" bIns="0" lIns="0" spcFirstLastPara="1" rIns="0" wrap="square" tIns="0">
            <a:spAutoFit/>
          </a:bodyPr>
          <a:lstStyle/>
          <a:p>
            <a:pPr indent="0" lvl="0" marL="0" marR="0" rtl="0" algn="ctr">
              <a:lnSpc>
                <a:spcPct val="77000"/>
              </a:lnSpc>
              <a:spcBef>
                <a:spcPts val="0"/>
              </a:spcBef>
              <a:spcAft>
                <a:spcPts val="0"/>
              </a:spcAft>
              <a:buNone/>
            </a:pPr>
            <a:r>
              <a:rPr b="0" i="0" lang="en-US" sz="10400" u="none" cap="none" strike="noStrike">
                <a:solidFill>
                  <a:srgbClr val="DBC096"/>
                </a:solidFill>
                <a:latin typeface="Arial"/>
                <a:ea typeface="Arial"/>
                <a:cs typeface="Arial"/>
                <a:sym typeface="Arial"/>
              </a:rPr>
              <a:t>¡Muchas gracias!</a:t>
            </a:r>
            <a:endParaRPr/>
          </a:p>
        </p:txBody>
      </p:sp>
      <p:sp>
        <p:nvSpPr>
          <p:cNvPr id="220" name="Google Shape;220;p13"/>
          <p:cNvSpPr txBox="1"/>
          <p:nvPr/>
        </p:nvSpPr>
        <p:spPr>
          <a:xfrm>
            <a:off x="4756715" y="2986149"/>
            <a:ext cx="8774570" cy="1441487"/>
          </a:xfrm>
          <a:prstGeom prst="rect">
            <a:avLst/>
          </a:prstGeom>
          <a:noFill/>
          <a:ln>
            <a:noFill/>
          </a:ln>
        </p:spPr>
        <p:txBody>
          <a:bodyPr anchorCtr="0" anchor="t" bIns="0" lIns="0" spcFirstLastPara="1" rIns="0" wrap="square" tIns="0">
            <a:spAutoFit/>
          </a:bodyPr>
          <a:lstStyle/>
          <a:p>
            <a:pPr indent="0" lvl="0" marL="0" marR="0" rtl="0" algn="ctr">
              <a:lnSpc>
                <a:spcPct val="96996"/>
              </a:lnSpc>
              <a:spcBef>
                <a:spcPts val="0"/>
              </a:spcBef>
              <a:spcAft>
                <a:spcPts val="0"/>
              </a:spcAft>
              <a:buNone/>
            </a:pPr>
            <a:r>
              <a:rPr b="0" i="0" lang="en-US" sz="10987" u="none" cap="none" strike="noStrike">
                <a:solidFill>
                  <a:srgbClr val="DBC096"/>
                </a:solidFill>
                <a:latin typeface="Arial"/>
                <a:ea typeface="Arial"/>
                <a:cs typeface="Arial"/>
                <a:sym typeface="Arial"/>
              </a:rPr>
              <a:t>ADSO</a:t>
            </a:r>
            <a:endParaRPr/>
          </a:p>
        </p:txBody>
      </p:sp>
      <p:sp>
        <p:nvSpPr>
          <p:cNvPr id="221" name="Google Shape;221;p13"/>
          <p:cNvSpPr txBox="1"/>
          <p:nvPr/>
        </p:nvSpPr>
        <p:spPr>
          <a:xfrm>
            <a:off x="4756715" y="4100309"/>
            <a:ext cx="8774570" cy="578454"/>
          </a:xfrm>
          <a:prstGeom prst="rect">
            <a:avLst/>
          </a:prstGeom>
          <a:noFill/>
          <a:ln>
            <a:noFill/>
          </a:ln>
        </p:spPr>
        <p:txBody>
          <a:bodyPr anchorCtr="0" anchor="t" bIns="0" lIns="0" spcFirstLastPara="1" rIns="0" wrap="square" tIns="0">
            <a:spAutoFit/>
          </a:bodyPr>
          <a:lstStyle/>
          <a:p>
            <a:pPr indent="0" lvl="0" marL="0" marR="0" rtl="0" algn="ctr">
              <a:lnSpc>
                <a:spcPct val="140012"/>
              </a:lnSpc>
              <a:spcBef>
                <a:spcPts val="0"/>
              </a:spcBef>
              <a:spcAft>
                <a:spcPts val="0"/>
              </a:spcAft>
              <a:buNone/>
            </a:pPr>
            <a:r>
              <a:rPr b="0" i="0" lang="en-US" sz="3309" u="none" cap="none" strike="noStrike">
                <a:solidFill>
                  <a:srgbClr val="DBC096"/>
                </a:solidFill>
                <a:latin typeface="Belleza"/>
                <a:ea typeface="Belleza"/>
                <a:cs typeface="Belleza"/>
                <a:sym typeface="Belleza"/>
              </a:rPr>
              <a:t>NAY EVENTOS WEB</a:t>
            </a:r>
            <a:endParaRPr/>
          </a:p>
        </p:txBody>
      </p:sp>
      <p:sp>
        <p:nvSpPr>
          <p:cNvPr id="222" name="Google Shape;222;p13"/>
          <p:cNvSpPr/>
          <p:nvPr/>
        </p:nvSpPr>
        <p:spPr>
          <a:xfrm>
            <a:off x="-8678012" y="-391539"/>
            <a:ext cx="11028565" cy="11070078"/>
          </a:xfrm>
          <a:custGeom>
            <a:rect b="b" l="l" r="r" t="t"/>
            <a:pathLst>
              <a:path extrusionOk="0" h="11070078" w="11028565">
                <a:moveTo>
                  <a:pt x="0" y="0"/>
                </a:moveTo>
                <a:lnTo>
                  <a:pt x="11028565" y="0"/>
                </a:lnTo>
                <a:lnTo>
                  <a:pt x="11028565" y="11070078"/>
                </a:lnTo>
                <a:lnTo>
                  <a:pt x="0" y="11070078"/>
                </a:lnTo>
                <a:lnTo>
                  <a:pt x="0" y="0"/>
                </a:lnTo>
                <a:close/>
              </a:path>
            </a:pathLst>
          </a:custGeom>
          <a:blipFill rotWithShape="1">
            <a:blip r:embed="rId4">
              <a:alphaModFix/>
            </a:blip>
            <a:stretch>
              <a:fillRect b="0" l="0" r="0" t="0"/>
            </a:stretch>
          </a:blipFill>
          <a:ln>
            <a:noFill/>
          </a:ln>
        </p:spPr>
      </p:sp>
      <p:sp>
        <p:nvSpPr>
          <p:cNvPr id="223" name="Google Shape;223;p13"/>
          <p:cNvSpPr/>
          <p:nvPr/>
        </p:nvSpPr>
        <p:spPr>
          <a:xfrm flipH="1">
            <a:off x="15937447" y="-391539"/>
            <a:ext cx="11028565" cy="11070078"/>
          </a:xfrm>
          <a:custGeom>
            <a:rect b="b" l="l" r="r" t="t"/>
            <a:pathLst>
              <a:path extrusionOk="0" h="11070078" w="11028565">
                <a:moveTo>
                  <a:pt x="11028565" y="0"/>
                </a:moveTo>
                <a:lnTo>
                  <a:pt x="0" y="0"/>
                </a:lnTo>
                <a:lnTo>
                  <a:pt x="0" y="11070078"/>
                </a:lnTo>
                <a:lnTo>
                  <a:pt x="11028565" y="11070078"/>
                </a:lnTo>
                <a:lnTo>
                  <a:pt x="11028565" y="0"/>
                </a:lnTo>
                <a:close/>
              </a:path>
            </a:pathLst>
          </a:custGeom>
          <a:blipFill rotWithShape="1">
            <a:blip r:embed="rId4">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